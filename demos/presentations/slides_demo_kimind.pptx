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32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6.png" ContentType="image/png"/>
  <Override PartName="/ppt/media/image4.png" ContentType="image/png"/>
  <Override PartName="/ppt/media/image5.svg" ContentType="image/svg"/>
  <Override PartName="/ppt/media/image7.png" ContentType="image/png"/>
  <Override PartName="/ppt/media/image8.svg" ContentType="image/sv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</p:sldMasterIdLst>
  <p:notesMasterIdLst>
    <p:notesMasterId r:id="rId40"/>
  </p:notesMasterIdLst>
  <p:sldIdLst>
    <p:sldId id="256" r:id="rId41"/>
    <p:sldId id="257" r:id="rId42"/>
    <p:sldId id="258" r:id="rId4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notesMaster" Target="notesMasters/notesMaster1.xml"/><Relationship Id="rId41" Type="http://schemas.openxmlformats.org/officeDocument/2006/relationships/slide" Target="slides/slide1.xml"/><Relationship Id="rId42" Type="http://schemas.openxmlformats.org/officeDocument/2006/relationships/slide" Target="slides/slide2.xml"/><Relationship Id="rId43" Type="http://schemas.openxmlformats.org/officeDocument/2006/relationships/slide" Target="slides/slide3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4B5FB74-F358-4BF1-A55E-405F7A2D29C9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ED4041-190E-42D9-8517-82F9ED150D9A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D0B847-BE02-4505-8CB4-D667020CF5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Four block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image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ith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ith imag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circle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highlight block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Four highlight block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ircl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highlight blocks centered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x blocks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block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ore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bar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vider with imag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678418F-E64B-40E5-82F2-CB6B5D950B1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  <p:sp>
        <p:nvSpPr>
          <p:cNvPr id="2" name="TextBox 3"/>
          <p:cNvSpPr/>
          <p:nvPr/>
        </p:nvSpPr>
        <p:spPr>
          <a:xfrm>
            <a:off x="914760" y="6206760"/>
            <a:ext cx="37486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00" spc="-1" strike="noStrike">
                <a:solidFill>
                  <a:schemeClr val="lt1"/>
                </a:solidFill>
                <a:latin typeface="Cyntho Next"/>
                <a:ea typeface="Verdana"/>
              </a:rPr>
              <a:t>Confidential information owned by NukkAI, to be used by the recipient only. This document, or any part of it, may not be reproduced, copied, circulated and/or distributed nor quoted without prior written approval from NukkAI.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77D5BE5-47E5-48D3-987A-0E4FE30AECE9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yntho Next"/>
              </a:rPr>
              <a:t>Cliquez pour éditer le format du texte-titre</a:t>
            </a:r>
            <a:endParaRPr b="0" lang="fr-FR" sz="4400" spc="-1" strike="noStrike">
              <a:solidFill>
                <a:schemeClr val="dk1"/>
              </a:solidFill>
              <a:latin typeface="Cyntho Nex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chemeClr val="dk1"/>
                </a:solidFill>
                <a:latin typeface="Cyntho Nex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97CED00-5C4C-474C-B49D-667085B70B10}" type="slidenum">
              <a:rPr b="0" lang="fr-FR" sz="1800" spc="-1" strike="noStrike">
                <a:solidFill>
                  <a:schemeClr val="dk1"/>
                </a:solidFill>
                <a:latin typeface="Cyntho Next"/>
              </a:rPr>
              <a:t>&lt;numéro&gt;</a:t>
            </a:fld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BFBA0C05-7C38-4AEE-B255-5E9F227700ED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: Rounded Corners 19"/>
          <p:cNvSpPr/>
          <p:nvPr/>
        </p:nvSpPr>
        <p:spPr>
          <a:xfrm>
            <a:off x="41796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" name="Rectangle: Rounded Corners 20"/>
          <p:cNvSpPr/>
          <p:nvPr/>
        </p:nvSpPr>
        <p:spPr>
          <a:xfrm>
            <a:off x="329148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" name="Rectangle: Rounded Corners 21"/>
          <p:cNvSpPr/>
          <p:nvPr/>
        </p:nvSpPr>
        <p:spPr>
          <a:xfrm>
            <a:off x="616500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" name="Rectangle: Rounded Corners 22"/>
          <p:cNvSpPr/>
          <p:nvPr/>
        </p:nvSpPr>
        <p:spPr>
          <a:xfrm>
            <a:off x="903852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5" name="Text Placeholder 4"/>
          <p:cNvSpPr/>
          <p:nvPr/>
        </p:nvSpPr>
        <p:spPr>
          <a:xfrm>
            <a:off x="56376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Placeholder 4"/>
          <p:cNvSpPr/>
          <p:nvPr/>
        </p:nvSpPr>
        <p:spPr>
          <a:xfrm>
            <a:off x="56376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Placeholder 4"/>
          <p:cNvSpPr/>
          <p:nvPr/>
        </p:nvSpPr>
        <p:spPr>
          <a:xfrm>
            <a:off x="343764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Placeholder 4"/>
          <p:cNvSpPr/>
          <p:nvPr/>
        </p:nvSpPr>
        <p:spPr>
          <a:xfrm>
            <a:off x="343764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Placeholder 4"/>
          <p:cNvSpPr/>
          <p:nvPr/>
        </p:nvSpPr>
        <p:spPr>
          <a:xfrm>
            <a:off x="631116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Placeholder 4"/>
          <p:cNvSpPr/>
          <p:nvPr/>
        </p:nvSpPr>
        <p:spPr>
          <a:xfrm>
            <a:off x="631116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Placeholder 4"/>
          <p:cNvSpPr/>
          <p:nvPr/>
        </p:nvSpPr>
        <p:spPr>
          <a:xfrm>
            <a:off x="918468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Placeholder 4"/>
          <p:cNvSpPr/>
          <p:nvPr/>
        </p:nvSpPr>
        <p:spPr>
          <a:xfrm>
            <a:off x="918468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EE4266AB-63B9-4D8C-839B-46FB78D8F650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Graphique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74240" y="206280"/>
            <a:ext cx="1677960" cy="1185480"/>
          </a:xfrm>
          <a:prstGeom prst="rect">
            <a:avLst/>
          </a:prstGeom>
          <a:ln w="0">
            <a:noFill/>
          </a:ln>
        </p:spPr>
      </p:pic>
      <p:sp>
        <p:nvSpPr>
          <p:cNvPr id="26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98CE546-E8DC-4BDF-80D9-2BF7F112D329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0" r="-199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29B0F920-58F2-49F7-8907-DF28E2A12580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400" y="1069920"/>
            <a:ext cx="1677960" cy="1185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11B3291-7E7A-4993-831B-B7025A7F89D8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8200" y="810360"/>
            <a:ext cx="2145600" cy="1516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BD62F33A-639E-46E6-A43B-0210D0BAF0F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744CCE5-170B-4D7B-8992-AAAD7369D95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7840" y="810360"/>
            <a:ext cx="2146320" cy="1516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0" r="-199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34D7C71-8EAF-4C05-8558-A73245105E5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400" y="1069920"/>
            <a:ext cx="1677960" cy="1185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369A53B-1AB0-41F9-992D-2A48EC9AF05D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Graphique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760" y="1069920"/>
            <a:ext cx="1677240" cy="1185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BEEBC9C3-CE51-4E3A-8E02-3785F1E1A960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19"/>
          <p:cNvSpPr/>
          <p:nvPr/>
        </p:nvSpPr>
        <p:spPr>
          <a:xfrm>
            <a:off x="727920" y="1481400"/>
            <a:ext cx="2157480" cy="2157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1" name="Text Placeholder 4"/>
          <p:cNvSpPr/>
          <p:nvPr/>
        </p:nvSpPr>
        <p:spPr>
          <a:xfrm>
            <a:off x="939600" y="1915560"/>
            <a:ext cx="1761480" cy="1289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Placeholder 4"/>
          <p:cNvSpPr/>
          <p:nvPr/>
        </p:nvSpPr>
        <p:spPr>
          <a:xfrm>
            <a:off x="727920" y="3884040"/>
            <a:ext cx="2157480" cy="19868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Placeholder 4"/>
          <p:cNvSpPr/>
          <p:nvPr/>
        </p:nvSpPr>
        <p:spPr>
          <a:xfrm>
            <a:off x="3564720" y="3884040"/>
            <a:ext cx="2157480" cy="19868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Placeholder 4"/>
          <p:cNvSpPr/>
          <p:nvPr/>
        </p:nvSpPr>
        <p:spPr>
          <a:xfrm>
            <a:off x="6463080" y="3884040"/>
            <a:ext cx="2157480" cy="19868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Placeholder 4"/>
          <p:cNvSpPr/>
          <p:nvPr/>
        </p:nvSpPr>
        <p:spPr>
          <a:xfrm>
            <a:off x="9361800" y="3884040"/>
            <a:ext cx="2157480" cy="19868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Oval 23"/>
          <p:cNvSpPr/>
          <p:nvPr/>
        </p:nvSpPr>
        <p:spPr>
          <a:xfrm>
            <a:off x="3564720" y="1481400"/>
            <a:ext cx="2157480" cy="2157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7" name="Oval 24"/>
          <p:cNvSpPr/>
          <p:nvPr/>
        </p:nvSpPr>
        <p:spPr>
          <a:xfrm>
            <a:off x="6463080" y="1481400"/>
            <a:ext cx="2157480" cy="2157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8" name="Oval 25"/>
          <p:cNvSpPr/>
          <p:nvPr/>
        </p:nvSpPr>
        <p:spPr>
          <a:xfrm>
            <a:off x="9361800" y="1481400"/>
            <a:ext cx="2157480" cy="2157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9" name="Text Placeholder 4"/>
          <p:cNvSpPr/>
          <p:nvPr/>
        </p:nvSpPr>
        <p:spPr>
          <a:xfrm>
            <a:off x="3776040" y="1915560"/>
            <a:ext cx="1761480" cy="1289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Placeholder 4"/>
          <p:cNvSpPr/>
          <p:nvPr/>
        </p:nvSpPr>
        <p:spPr>
          <a:xfrm>
            <a:off x="6661080" y="1915560"/>
            <a:ext cx="1761480" cy="1289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Placeholder 4"/>
          <p:cNvSpPr/>
          <p:nvPr/>
        </p:nvSpPr>
        <p:spPr>
          <a:xfrm>
            <a:off x="9559440" y="1915560"/>
            <a:ext cx="1761480" cy="1289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2CE68938-957A-4BDC-83F7-6A8157F30D33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raphique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E99EB53-3EDE-474E-BBD6-AE361CF5462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raphique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2AF5D59-BF5E-40BA-BE07-B3F882F81E7E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11105D1-39D7-4CA0-9C53-FB0EFE0D3F7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: Rounded Corners 19"/>
          <p:cNvSpPr/>
          <p:nvPr/>
        </p:nvSpPr>
        <p:spPr>
          <a:xfrm>
            <a:off x="417960" y="1376640"/>
            <a:ext cx="5505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61" name="Rectangle: Rounded Corners 20"/>
          <p:cNvSpPr/>
          <p:nvPr/>
        </p:nvSpPr>
        <p:spPr>
          <a:xfrm>
            <a:off x="6256800" y="1386720"/>
            <a:ext cx="5541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62" name="Text Placeholder 4"/>
          <p:cNvSpPr/>
          <p:nvPr/>
        </p:nvSpPr>
        <p:spPr>
          <a:xfrm>
            <a:off x="597960" y="1481400"/>
            <a:ext cx="5145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Placeholder 4"/>
          <p:cNvSpPr/>
          <p:nvPr/>
        </p:nvSpPr>
        <p:spPr>
          <a:xfrm>
            <a:off x="597960" y="1983600"/>
            <a:ext cx="5145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Placeholder 4"/>
          <p:cNvSpPr/>
          <p:nvPr/>
        </p:nvSpPr>
        <p:spPr>
          <a:xfrm>
            <a:off x="6454800" y="1481400"/>
            <a:ext cx="5145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Placeholder 4"/>
          <p:cNvSpPr/>
          <p:nvPr/>
        </p:nvSpPr>
        <p:spPr>
          <a:xfrm>
            <a:off x="6454800" y="1983600"/>
            <a:ext cx="5145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7CBB9478-71A3-48E7-842E-DB8AABAF548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F20B7E4-57C2-4233-8155-56CA92AFEF9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A006A7E-D6AF-42B7-9693-7286E014DAF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EAA4F99-3908-49BE-9D4F-66FC0486D149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: Rounded Corners 13"/>
          <p:cNvSpPr/>
          <p:nvPr/>
        </p:nvSpPr>
        <p:spPr>
          <a:xfrm>
            <a:off x="422640" y="14299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accent5"/>
              </a:solidFill>
              <a:latin typeface="Cyntho Next"/>
            </a:endParaRPr>
          </a:p>
        </p:txBody>
      </p:sp>
      <p:sp>
        <p:nvSpPr>
          <p:cNvPr id="75" name="Rectangle: Rounded Corners 16"/>
          <p:cNvSpPr/>
          <p:nvPr/>
        </p:nvSpPr>
        <p:spPr>
          <a:xfrm>
            <a:off x="422640" y="38311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2"/>
              </a:solidFill>
              <a:latin typeface="Cyntho Next"/>
            </a:endParaRPr>
          </a:p>
        </p:txBody>
      </p:sp>
      <p:sp>
        <p:nvSpPr>
          <p:cNvPr id="76" name="Rectangle: Rounded Corners 26"/>
          <p:cNvSpPr/>
          <p:nvPr/>
        </p:nvSpPr>
        <p:spPr>
          <a:xfrm>
            <a:off x="6287760" y="14299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77" name="Rectangle: Rounded Corners 27"/>
          <p:cNvSpPr/>
          <p:nvPr/>
        </p:nvSpPr>
        <p:spPr>
          <a:xfrm>
            <a:off x="6287760" y="38311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7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0D261EA-3566-4505-93B8-FCEFD9C87EEF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320" cy="1516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5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7D7E3C6-EDB3-4831-8E2C-DC053862E57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: Rounded Corners 16"/>
          <p:cNvSpPr/>
          <p:nvPr/>
        </p:nvSpPr>
        <p:spPr>
          <a:xfrm>
            <a:off x="422640" y="38311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2"/>
              </a:solidFill>
              <a:latin typeface="Cyntho Next"/>
            </a:endParaRPr>
          </a:p>
        </p:txBody>
      </p:sp>
      <p:sp>
        <p:nvSpPr>
          <p:cNvPr id="83" name="Rectangle: Rounded Corners 26"/>
          <p:cNvSpPr/>
          <p:nvPr/>
        </p:nvSpPr>
        <p:spPr>
          <a:xfrm>
            <a:off x="6287760" y="14299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84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AD69CE9-D38E-4DF8-9341-F3CA2E5AFE78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val 25"/>
          <p:cNvSpPr/>
          <p:nvPr/>
        </p:nvSpPr>
        <p:spPr>
          <a:xfrm>
            <a:off x="417960" y="1347840"/>
            <a:ext cx="1383120" cy="138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87" name="Oval 22"/>
          <p:cNvSpPr/>
          <p:nvPr/>
        </p:nvSpPr>
        <p:spPr>
          <a:xfrm>
            <a:off x="417960" y="2936520"/>
            <a:ext cx="1383120" cy="138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88" name="Oval 33"/>
          <p:cNvSpPr/>
          <p:nvPr/>
        </p:nvSpPr>
        <p:spPr>
          <a:xfrm>
            <a:off x="417960" y="4525200"/>
            <a:ext cx="1383120" cy="138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89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2F98ADC-1652-474E-BE72-6F9F801127B4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: Rounded Corners 13"/>
          <p:cNvSpPr/>
          <p:nvPr/>
        </p:nvSpPr>
        <p:spPr>
          <a:xfrm>
            <a:off x="3869640" y="14299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2" name="Rectangle: Rounded Corners 16"/>
          <p:cNvSpPr/>
          <p:nvPr/>
        </p:nvSpPr>
        <p:spPr>
          <a:xfrm>
            <a:off x="3832920" y="38473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3" name="Rectangle: Rounded Corners 26"/>
          <p:cNvSpPr/>
          <p:nvPr/>
        </p:nvSpPr>
        <p:spPr>
          <a:xfrm>
            <a:off x="6214320" y="14299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4" name="Rectangle: Rounded Corners 27"/>
          <p:cNvSpPr/>
          <p:nvPr/>
        </p:nvSpPr>
        <p:spPr>
          <a:xfrm>
            <a:off x="6214320" y="3831120"/>
            <a:ext cx="2067840" cy="212796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95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8A85A215-3B43-4308-BA15-26CCD79CAFE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A48D6887-BC10-4F1F-888B-FEB6F2B2A5BF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: Rounded Corners 19"/>
          <p:cNvSpPr/>
          <p:nvPr/>
        </p:nvSpPr>
        <p:spPr>
          <a:xfrm>
            <a:off x="41796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0" name="Rectangle: Rounded Corners 20"/>
          <p:cNvSpPr/>
          <p:nvPr/>
        </p:nvSpPr>
        <p:spPr>
          <a:xfrm>
            <a:off x="329148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1" name="Rectangle: Rounded Corners 21"/>
          <p:cNvSpPr/>
          <p:nvPr/>
        </p:nvSpPr>
        <p:spPr>
          <a:xfrm>
            <a:off x="616500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2" name="Rectangle: Rounded Corners 22"/>
          <p:cNvSpPr/>
          <p:nvPr/>
        </p:nvSpPr>
        <p:spPr>
          <a:xfrm>
            <a:off x="9038520" y="1376640"/>
            <a:ext cx="2747520" cy="4678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3" name="Text Placeholder 4"/>
          <p:cNvSpPr/>
          <p:nvPr/>
        </p:nvSpPr>
        <p:spPr>
          <a:xfrm>
            <a:off x="56376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Placeholder 4"/>
          <p:cNvSpPr/>
          <p:nvPr/>
        </p:nvSpPr>
        <p:spPr>
          <a:xfrm>
            <a:off x="56376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Placeholder 4"/>
          <p:cNvSpPr/>
          <p:nvPr/>
        </p:nvSpPr>
        <p:spPr>
          <a:xfrm>
            <a:off x="343764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Placeholder 4"/>
          <p:cNvSpPr/>
          <p:nvPr/>
        </p:nvSpPr>
        <p:spPr>
          <a:xfrm>
            <a:off x="343764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Placeholder 4"/>
          <p:cNvSpPr/>
          <p:nvPr/>
        </p:nvSpPr>
        <p:spPr>
          <a:xfrm>
            <a:off x="631116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Placeholder 4"/>
          <p:cNvSpPr/>
          <p:nvPr/>
        </p:nvSpPr>
        <p:spPr>
          <a:xfrm>
            <a:off x="631116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Placeholder 4"/>
          <p:cNvSpPr/>
          <p:nvPr/>
        </p:nvSpPr>
        <p:spPr>
          <a:xfrm>
            <a:off x="918468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Placeholder 4"/>
          <p:cNvSpPr/>
          <p:nvPr/>
        </p:nvSpPr>
        <p:spPr>
          <a:xfrm>
            <a:off x="9184680" y="1878840"/>
            <a:ext cx="2455560" cy="4058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8EB4D57-7D52-46C8-8B49-6CDBDB8F01C4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320" cy="1516680"/>
          </a:xfrm>
          <a:prstGeom prst="rect">
            <a:avLst/>
          </a:prstGeom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yntho Next"/>
              </a:rPr>
              <a:t>Cliquez pour éditer le format du plan de texte</a:t>
            </a:r>
            <a:endParaRPr b="0" lang="fr-FR" sz="2800" spc="-1" strike="noStrike">
              <a:solidFill>
                <a:schemeClr val="dk1"/>
              </a:solidFill>
              <a:latin typeface="Cyntho Nex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Second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Troisième niveau de plan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Quatrième niveau de plan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5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3994472-D705-44C9-8B88-D6C6139B278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: Rounded Corners 19"/>
          <p:cNvSpPr/>
          <p:nvPr/>
        </p:nvSpPr>
        <p:spPr>
          <a:xfrm>
            <a:off x="417960" y="1376640"/>
            <a:ext cx="341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18" name="Rectangle: Rounded Corners 20"/>
          <p:cNvSpPr/>
          <p:nvPr/>
        </p:nvSpPr>
        <p:spPr>
          <a:xfrm>
            <a:off x="4399200" y="1386720"/>
            <a:ext cx="341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19" name="Rectangle: Rounded Corners 21"/>
          <p:cNvSpPr/>
          <p:nvPr/>
        </p:nvSpPr>
        <p:spPr>
          <a:xfrm>
            <a:off x="8380800" y="1386720"/>
            <a:ext cx="341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0" name="Text Placeholder 4"/>
          <p:cNvSpPr/>
          <p:nvPr/>
        </p:nvSpPr>
        <p:spPr>
          <a:xfrm>
            <a:off x="507960" y="1481400"/>
            <a:ext cx="323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Placeholder 4"/>
          <p:cNvSpPr/>
          <p:nvPr/>
        </p:nvSpPr>
        <p:spPr>
          <a:xfrm>
            <a:off x="507960" y="1983600"/>
            <a:ext cx="323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Placeholder 4"/>
          <p:cNvSpPr/>
          <p:nvPr/>
        </p:nvSpPr>
        <p:spPr>
          <a:xfrm>
            <a:off x="4489200" y="1481400"/>
            <a:ext cx="323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Placeholder 4"/>
          <p:cNvSpPr/>
          <p:nvPr/>
        </p:nvSpPr>
        <p:spPr>
          <a:xfrm>
            <a:off x="4489200" y="1983600"/>
            <a:ext cx="323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Placeholder 4"/>
          <p:cNvSpPr/>
          <p:nvPr/>
        </p:nvSpPr>
        <p:spPr>
          <a:xfrm>
            <a:off x="8470800" y="1481400"/>
            <a:ext cx="323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Placeholder 4"/>
          <p:cNvSpPr/>
          <p:nvPr/>
        </p:nvSpPr>
        <p:spPr>
          <a:xfrm>
            <a:off x="8470800" y="1983600"/>
            <a:ext cx="323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A5B18F66-68ED-42DE-A258-8D76B35D72EB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: Rounded Corners 19"/>
          <p:cNvSpPr/>
          <p:nvPr/>
        </p:nvSpPr>
        <p:spPr>
          <a:xfrm>
            <a:off x="417960" y="1376640"/>
            <a:ext cx="269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9" name="Rectangle: Rounded Corners 20"/>
          <p:cNvSpPr/>
          <p:nvPr/>
        </p:nvSpPr>
        <p:spPr>
          <a:xfrm>
            <a:off x="3312000" y="1376640"/>
            <a:ext cx="269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0" name="Rectangle: Rounded Corners 21"/>
          <p:cNvSpPr/>
          <p:nvPr/>
        </p:nvSpPr>
        <p:spPr>
          <a:xfrm>
            <a:off x="6206400" y="1376640"/>
            <a:ext cx="269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1" name="Rectangle: Rounded Corners 22"/>
          <p:cNvSpPr/>
          <p:nvPr/>
        </p:nvSpPr>
        <p:spPr>
          <a:xfrm>
            <a:off x="9100800" y="1376640"/>
            <a:ext cx="2697480" cy="49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2" name="Text Placeholder 4"/>
          <p:cNvSpPr/>
          <p:nvPr/>
        </p:nvSpPr>
        <p:spPr>
          <a:xfrm>
            <a:off x="507960" y="1481400"/>
            <a:ext cx="251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Placeholder 4"/>
          <p:cNvSpPr/>
          <p:nvPr/>
        </p:nvSpPr>
        <p:spPr>
          <a:xfrm>
            <a:off x="507960" y="1983600"/>
            <a:ext cx="251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Placeholder 4"/>
          <p:cNvSpPr/>
          <p:nvPr/>
        </p:nvSpPr>
        <p:spPr>
          <a:xfrm>
            <a:off x="3433320" y="1481400"/>
            <a:ext cx="245556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Placeholder 4"/>
          <p:cNvSpPr/>
          <p:nvPr/>
        </p:nvSpPr>
        <p:spPr>
          <a:xfrm>
            <a:off x="3402000" y="1983600"/>
            <a:ext cx="251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Placeholder 4"/>
          <p:cNvSpPr/>
          <p:nvPr/>
        </p:nvSpPr>
        <p:spPr>
          <a:xfrm>
            <a:off x="6296400" y="1481400"/>
            <a:ext cx="251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Placeholder 4"/>
          <p:cNvSpPr/>
          <p:nvPr/>
        </p:nvSpPr>
        <p:spPr>
          <a:xfrm>
            <a:off x="6296400" y="1983600"/>
            <a:ext cx="251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Placeholder 4"/>
          <p:cNvSpPr/>
          <p:nvPr/>
        </p:nvSpPr>
        <p:spPr>
          <a:xfrm>
            <a:off x="9190800" y="1481400"/>
            <a:ext cx="2517480" cy="3096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Placeholder 4"/>
          <p:cNvSpPr/>
          <p:nvPr/>
        </p:nvSpPr>
        <p:spPr>
          <a:xfrm>
            <a:off x="9190800" y="1983600"/>
            <a:ext cx="2517480" cy="3953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FF1CE89-8A18-482F-BB27-66B991B7D7E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: Rounded Corners 23"/>
          <p:cNvSpPr/>
          <p:nvPr/>
        </p:nvSpPr>
        <p:spPr>
          <a:xfrm>
            <a:off x="417960" y="1376280"/>
            <a:ext cx="3597480" cy="4552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3" name="Rectangle: Rounded Corners 24"/>
          <p:cNvSpPr/>
          <p:nvPr/>
        </p:nvSpPr>
        <p:spPr>
          <a:xfrm>
            <a:off x="4318200" y="1376280"/>
            <a:ext cx="3597480" cy="4552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4" name="Rectangle: Rounded Corners 25"/>
          <p:cNvSpPr/>
          <p:nvPr/>
        </p:nvSpPr>
        <p:spPr>
          <a:xfrm>
            <a:off x="8218440" y="1376280"/>
            <a:ext cx="3597480" cy="45522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rgbClr val="2d2d2d"/>
              </a:solidFill>
              <a:latin typeface="Cyntho Next"/>
            </a:endParaRPr>
          </a:p>
        </p:txBody>
      </p:sp>
      <p:sp>
        <p:nvSpPr>
          <p:cNvPr id="145" name="Text Placeholder 20"/>
          <p:cNvSpPr/>
          <p:nvPr/>
        </p:nvSpPr>
        <p:spPr>
          <a:xfrm>
            <a:off x="499320" y="1479240"/>
            <a:ext cx="3434400" cy="3499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Placeholder 20"/>
          <p:cNvSpPr/>
          <p:nvPr/>
        </p:nvSpPr>
        <p:spPr>
          <a:xfrm>
            <a:off x="4399560" y="1479240"/>
            <a:ext cx="3434400" cy="3499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Placeholder 20"/>
          <p:cNvSpPr/>
          <p:nvPr/>
        </p:nvSpPr>
        <p:spPr>
          <a:xfrm>
            <a:off x="8302680" y="1479240"/>
            <a:ext cx="3434400" cy="3499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rgbClr val="2d2d2d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Placeholder 20"/>
          <p:cNvSpPr/>
          <p:nvPr/>
        </p:nvSpPr>
        <p:spPr>
          <a:xfrm>
            <a:off x="499320" y="1973880"/>
            <a:ext cx="3434400" cy="38851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Placeholder 20"/>
          <p:cNvSpPr/>
          <p:nvPr/>
        </p:nvSpPr>
        <p:spPr>
          <a:xfrm>
            <a:off x="4399560" y="1973880"/>
            <a:ext cx="3434400" cy="38851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2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Placeholder 20"/>
          <p:cNvSpPr/>
          <p:nvPr/>
        </p:nvSpPr>
        <p:spPr>
          <a:xfrm>
            <a:off x="8299800" y="1973880"/>
            <a:ext cx="3434400" cy="38851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A5D9380-D27B-4EC4-87A4-ED5E04F467E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: Rounded Corners 19"/>
          <p:cNvSpPr/>
          <p:nvPr/>
        </p:nvSpPr>
        <p:spPr>
          <a:xfrm>
            <a:off x="413640" y="1414800"/>
            <a:ext cx="9351360" cy="17974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54" name="Text Placeholder 20"/>
          <p:cNvSpPr/>
          <p:nvPr/>
        </p:nvSpPr>
        <p:spPr>
          <a:xfrm>
            <a:off x="507600" y="1509840"/>
            <a:ext cx="9185760" cy="16390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Placeholder 20"/>
          <p:cNvSpPr/>
          <p:nvPr/>
        </p:nvSpPr>
        <p:spPr>
          <a:xfrm>
            <a:off x="507600" y="3429000"/>
            <a:ext cx="9185760" cy="242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0" r="-199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81F96E6-F21B-42E0-B3C4-0EC94528130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320" cy="1516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82D8E6BA-7EF5-4B61-80C4-1770DDC0EE0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4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3F9A6D7-6DB8-4466-A145-DE9DF802584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: Rounded Corners 28"/>
          <p:cNvSpPr/>
          <p:nvPr/>
        </p:nvSpPr>
        <p:spPr>
          <a:xfrm>
            <a:off x="780840" y="1640880"/>
            <a:ext cx="7988760" cy="3018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63" name="TextBox 29"/>
          <p:cNvSpPr/>
          <p:nvPr/>
        </p:nvSpPr>
        <p:spPr>
          <a:xfrm>
            <a:off x="875520" y="1601280"/>
            <a:ext cx="650520" cy="1496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NL" sz="8800" spc="-1" strike="noStrike">
                <a:solidFill>
                  <a:srgbClr val="2d2d2d"/>
                </a:solidFill>
                <a:latin typeface="Montserrat SemiBold"/>
              </a:rPr>
              <a:t>“</a:t>
            </a:r>
            <a:endParaRPr b="0" lang="fr-FR" sz="8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30"/>
          <p:cNvSpPr/>
          <p:nvPr/>
        </p:nvSpPr>
        <p:spPr>
          <a:xfrm>
            <a:off x="7953120" y="3770280"/>
            <a:ext cx="650520" cy="1496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NL" sz="8800" spc="-1" strike="noStrike">
                <a:solidFill>
                  <a:srgbClr val="2d2d2d"/>
                </a:solidFill>
                <a:latin typeface="Montserrat SemiBold"/>
              </a:rPr>
              <a:t>”</a:t>
            </a:r>
            <a:endParaRPr b="0" lang="fr-FR" sz="8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Placeholder 4"/>
          <p:cNvSpPr/>
          <p:nvPr/>
        </p:nvSpPr>
        <p:spPr>
          <a:xfrm>
            <a:off x="1807920" y="1881000"/>
            <a:ext cx="5934600" cy="25387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fr-FR" sz="18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4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0" r="-199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25E9453-A4C5-4C34-978F-DD0B238BC1B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5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79D68F4-3415-4D5B-AF91-F2E69C392969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0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5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1" r="-2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B3C5224-DD59-4C3F-A46F-BEA961EC028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Graphique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7840" y="810360"/>
            <a:ext cx="2146320" cy="1516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5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0" r="-199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lide Number Placeholder 10" hidden="1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BC8D0A44-5415-414C-985D-D18460CCAC6D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914760" y="6206760"/>
            <a:ext cx="37486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00" spc="-1" strike="noStrike">
                <a:solidFill>
                  <a:srgbClr val="000000"/>
                </a:solidFill>
                <a:latin typeface="Cyntho Next"/>
                <a:ea typeface="Verdana"/>
              </a:rPr>
              <a:t>Confidential information owned by NukkAI, to be used by the recipient only. This document, or any part of it, may not be reproduced, copied, circulated and/or distributed nor quoted without prior written approval from NukkAI.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5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Number Placeholder 10"/>
          <p:cNvSpPr/>
          <p:nvPr/>
        </p:nvSpPr>
        <p:spPr>
          <a:xfrm>
            <a:off x="11429280" y="6298560"/>
            <a:ext cx="455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AE1C05E4-F8CE-49EF-9266-B9EC2EC93591}" type="slidenum">
              <a:rPr b="0" lang="en-IN" sz="1200" spc="-1" strike="noStrike">
                <a:solidFill>
                  <a:schemeClr val="accent5"/>
                </a:solidFill>
                <a:latin typeface="Cyntho Next SemiBold Italic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Graphique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1960" cy="460080"/>
          </a:xfrm>
          <a:prstGeom prst="rect">
            <a:avLst/>
          </a:prstGeom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yntho Next"/>
              </a:rPr>
              <a:t>Cliquez pour éditer le format du plan de texte</a:t>
            </a:r>
            <a:endParaRPr b="0" lang="fr-FR" sz="2800" spc="-1" strike="noStrike">
              <a:solidFill>
                <a:schemeClr val="dk1"/>
              </a:solidFill>
              <a:latin typeface="Cyntho Nex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Second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Troisième niveau de plan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yntho Next"/>
              </a:rPr>
              <a:t>Quatrième niveau de plan</a:t>
            </a:r>
            <a:endParaRPr b="0" lang="fr-FR" sz="1800" spc="-1" strike="noStrike">
              <a:solidFill>
                <a:schemeClr val="dk1"/>
              </a:solidFill>
              <a:latin typeface="Cyntho Nex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yntho Next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yntho Nex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8"/>
          <p:cNvSpPr/>
          <p:nvPr/>
        </p:nvSpPr>
        <p:spPr>
          <a:xfrm>
            <a:off x="988200" y="3603960"/>
            <a:ext cx="10353960" cy="11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600" spc="-1" strike="noStrike">
                <a:solidFill>
                  <a:srgbClr val="ffffff"/>
                </a:solidFill>
                <a:latin typeface="Cyntho Next SemiBold"/>
              </a:rPr>
              <a:t>Kimind 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 </a:t>
            </a: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testbed pour développer et évaluer 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une de nos approches Agentic AI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261720" y="66600"/>
            <a:ext cx="1148112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lt1"/>
                </a:solidFill>
                <a:latin typeface="Cyntho Next Bold"/>
              </a:rPr>
              <a:t>Une coopération d’agents (dont l’humain et un LLM)</a:t>
            </a:r>
            <a:br>
              <a:rPr sz="2800"/>
            </a:br>
            <a:r>
              <a:rPr b="0" lang="fr-FR" sz="2800" spc="-1" strike="noStrike">
                <a:solidFill>
                  <a:schemeClr val="lt1"/>
                </a:solidFill>
                <a:latin typeface="Cyntho Next Bold"/>
              </a:rPr>
              <a:t>pour détecter/analyser/créer des connaissances symboliques</a:t>
            </a:r>
            <a:endParaRPr b="0" lang="fr-FR" sz="2800" spc="-1" strike="noStrike">
              <a:solidFill>
                <a:schemeClr val="dk1"/>
              </a:solidFill>
              <a:latin typeface="Cyntho Next"/>
            </a:endParaRPr>
          </a:p>
        </p:txBody>
      </p:sp>
      <p:grpSp>
        <p:nvGrpSpPr>
          <p:cNvPr id="188" name="Groupe 15"/>
          <p:cNvGrpSpPr/>
          <p:nvPr/>
        </p:nvGrpSpPr>
        <p:grpSpPr>
          <a:xfrm>
            <a:off x="180000" y="956520"/>
            <a:ext cx="11813760" cy="5646960"/>
            <a:chOff x="180000" y="956520"/>
            <a:chExt cx="11813760" cy="5646960"/>
          </a:xfrm>
        </p:grpSpPr>
        <p:sp>
          <p:nvSpPr>
            <p:cNvPr id="189" name="Ellipse 17"/>
            <p:cNvSpPr/>
            <p:nvPr/>
          </p:nvSpPr>
          <p:spPr>
            <a:xfrm>
              <a:off x="2006280" y="3431880"/>
              <a:ext cx="1908000" cy="789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joueur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Rectangle : coins arrondis 10"/>
            <p:cNvSpPr/>
            <p:nvPr/>
          </p:nvSpPr>
          <p:spPr>
            <a:xfrm>
              <a:off x="1623240" y="2428200"/>
              <a:ext cx="2765160" cy="46908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Analyse jeu 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Rectangle : coins arrondis 14"/>
            <p:cNvSpPr/>
            <p:nvPr/>
          </p:nvSpPr>
          <p:spPr>
            <a:xfrm>
              <a:off x="9419400" y="3087360"/>
              <a:ext cx="2574360" cy="64836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Analyse énoncé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Ellipse 22"/>
            <p:cNvSpPr/>
            <p:nvPr/>
          </p:nvSpPr>
          <p:spPr>
            <a:xfrm>
              <a:off x="9711720" y="4499640"/>
              <a:ext cx="1908000" cy="789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600" spc="-1" strike="noStrike">
                  <a:solidFill>
                    <a:schemeClr val="lt1"/>
                  </a:solidFill>
                  <a:latin typeface="Cyntho Next"/>
                </a:rPr>
                <a:t>BK_enonce</a:t>
              </a:r>
              <a:endParaRPr b="0" lang="fr-FR" sz="1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fr-FR" sz="1600" spc="-1" strike="noStrike">
                  <a:solidFill>
                    <a:schemeClr val="lt1"/>
                  </a:solidFill>
                  <a:latin typeface="Cyntho Next"/>
                </a:rPr>
                <a:t>(difficulté, stratégie)</a:t>
              </a:r>
              <a:endParaRPr b="0" lang="fr-FR" sz="1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Rectangle : coins arrondis 15"/>
            <p:cNvSpPr/>
            <p:nvPr/>
          </p:nvSpPr>
          <p:spPr>
            <a:xfrm>
              <a:off x="5835960" y="4938120"/>
              <a:ext cx="2765160" cy="79956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 </a:t>
              </a: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Qualifie difficulté énoncé relativement au joueur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" name="Flèche : bas 25"/>
            <p:cNvSpPr/>
            <p:nvPr/>
          </p:nvSpPr>
          <p:spPr>
            <a:xfrm>
              <a:off x="2844720" y="1786680"/>
              <a:ext cx="248040" cy="593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195" name="Ellipse 23"/>
            <p:cNvSpPr/>
            <p:nvPr/>
          </p:nvSpPr>
          <p:spPr>
            <a:xfrm>
              <a:off x="9701640" y="1541880"/>
              <a:ext cx="1908000" cy="78876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Énoncé Kimind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Ellipse 24"/>
            <p:cNvSpPr/>
            <p:nvPr/>
          </p:nvSpPr>
          <p:spPr>
            <a:xfrm>
              <a:off x="2126160" y="956520"/>
              <a:ext cx="1685520" cy="78912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Parties jouées 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Flèche : bas 28"/>
            <p:cNvSpPr/>
            <p:nvPr/>
          </p:nvSpPr>
          <p:spPr>
            <a:xfrm>
              <a:off x="10512000" y="2486160"/>
              <a:ext cx="272880" cy="5504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pic>
          <p:nvPicPr>
            <p:cNvPr id="198" name="Image 5" descr=""/>
            <p:cNvPicPr/>
            <p:nvPr/>
          </p:nvPicPr>
          <p:blipFill>
            <a:blip r:embed="rId1"/>
            <a:stretch/>
          </p:blipFill>
          <p:spPr>
            <a:xfrm>
              <a:off x="7923240" y="2586960"/>
              <a:ext cx="1091880" cy="720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9" name="Flèche : bas 41"/>
            <p:cNvSpPr/>
            <p:nvPr/>
          </p:nvSpPr>
          <p:spPr>
            <a:xfrm>
              <a:off x="2841120" y="2945880"/>
              <a:ext cx="238680" cy="4208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0" name="Flèche : bas 42"/>
            <p:cNvSpPr/>
            <p:nvPr/>
          </p:nvSpPr>
          <p:spPr>
            <a:xfrm flipH="1" rot="4773600">
              <a:off x="5713920" y="1486440"/>
              <a:ext cx="230760" cy="38620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1" name="Ellipse 25"/>
            <p:cNvSpPr/>
            <p:nvPr/>
          </p:nvSpPr>
          <p:spPr>
            <a:xfrm>
              <a:off x="5989680" y="3638160"/>
              <a:ext cx="2233800" cy="78912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énoncé wrt joueur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Rectangle : coins arrondis 16"/>
            <p:cNvSpPr/>
            <p:nvPr/>
          </p:nvSpPr>
          <p:spPr>
            <a:xfrm>
              <a:off x="2104920" y="4809960"/>
              <a:ext cx="1706760" cy="47916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LLM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Flèche : bas 43"/>
            <p:cNvSpPr/>
            <p:nvPr/>
          </p:nvSpPr>
          <p:spPr>
            <a:xfrm>
              <a:off x="2841120" y="4316400"/>
              <a:ext cx="238680" cy="4204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4" name="Ellipse 26"/>
            <p:cNvSpPr/>
            <p:nvPr/>
          </p:nvSpPr>
          <p:spPr>
            <a:xfrm>
              <a:off x="1996560" y="5814360"/>
              <a:ext cx="1908000" cy="78912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langue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naturelle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lèche : bas 44"/>
            <p:cNvSpPr/>
            <p:nvPr/>
          </p:nvSpPr>
          <p:spPr>
            <a:xfrm>
              <a:off x="7080480" y="4508280"/>
              <a:ext cx="237960" cy="4204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6" name="Flèche : bas 45"/>
            <p:cNvSpPr/>
            <p:nvPr/>
          </p:nvSpPr>
          <p:spPr>
            <a:xfrm rot="17888400">
              <a:off x="4893120" y="3463920"/>
              <a:ext cx="152640" cy="19713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7" name="Flèche : bas 46"/>
            <p:cNvSpPr/>
            <p:nvPr/>
          </p:nvSpPr>
          <p:spPr>
            <a:xfrm rot="7129200">
              <a:off x="4678920" y="3800160"/>
              <a:ext cx="184320" cy="19044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8" name="Flèche : bas 48"/>
            <p:cNvSpPr/>
            <p:nvPr/>
          </p:nvSpPr>
          <p:spPr>
            <a:xfrm rot="4375200">
              <a:off x="9095040" y="4771800"/>
              <a:ext cx="192600" cy="83772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09" name="Flèche : bas 49"/>
            <p:cNvSpPr/>
            <p:nvPr/>
          </p:nvSpPr>
          <p:spPr>
            <a:xfrm>
              <a:off x="2831760" y="5340240"/>
              <a:ext cx="238320" cy="4208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10" name="Rectangle : coins arrondis 10"/>
            <p:cNvSpPr/>
            <p:nvPr/>
          </p:nvSpPr>
          <p:spPr>
            <a:xfrm>
              <a:off x="5099400" y="1046880"/>
              <a:ext cx="2765880" cy="46908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Analyse statistiques 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Flèche : bas 25"/>
            <p:cNvSpPr/>
            <p:nvPr/>
          </p:nvSpPr>
          <p:spPr>
            <a:xfrm rot="16200000">
              <a:off x="4310280" y="882720"/>
              <a:ext cx="183600" cy="8686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12" name="Ellipse 22"/>
            <p:cNvSpPr/>
            <p:nvPr/>
          </p:nvSpPr>
          <p:spPr>
            <a:xfrm>
              <a:off x="5410440" y="2210400"/>
              <a:ext cx="1908000" cy="78912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600" spc="-1" strike="noStrike">
                  <a:solidFill>
                    <a:schemeClr val="lt1"/>
                  </a:solidFill>
                  <a:latin typeface="Cyntho Next"/>
                </a:rPr>
                <a:t>BK parties</a:t>
              </a:r>
              <a:endParaRPr b="0" lang="fr-FR" sz="1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Flèche : bas 28"/>
            <p:cNvSpPr/>
            <p:nvPr/>
          </p:nvSpPr>
          <p:spPr>
            <a:xfrm>
              <a:off x="10546560" y="3854520"/>
              <a:ext cx="237960" cy="5140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14" name="Flèche : bas 25"/>
            <p:cNvSpPr/>
            <p:nvPr/>
          </p:nvSpPr>
          <p:spPr>
            <a:xfrm>
              <a:off x="6262560" y="1629360"/>
              <a:ext cx="248040" cy="46872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15" name="Flèche : bas 25"/>
            <p:cNvSpPr/>
            <p:nvPr/>
          </p:nvSpPr>
          <p:spPr>
            <a:xfrm rot="5400000">
              <a:off x="4744440" y="2202840"/>
              <a:ext cx="184320" cy="75132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16" name="Rectangle : coins arrondis 10"/>
            <p:cNvSpPr/>
            <p:nvPr/>
          </p:nvSpPr>
          <p:spPr>
            <a:xfrm>
              <a:off x="180000" y="1161360"/>
              <a:ext cx="1365840" cy="46872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Kimind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7" name="Flèche : bas 25"/>
            <p:cNvSpPr/>
            <p:nvPr/>
          </p:nvSpPr>
          <p:spPr>
            <a:xfrm rot="16200000">
              <a:off x="1739520" y="1182960"/>
              <a:ext cx="237960" cy="4204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82280" y="91440"/>
            <a:ext cx="11481120" cy="5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L’architecture et la technologie sont transférables</a:t>
            </a:r>
            <a:endParaRPr b="0" lang="fr-FR" sz="3600" spc="-1" strike="noStrike">
              <a:solidFill>
                <a:schemeClr val="dk1"/>
              </a:solidFill>
              <a:latin typeface="Cyntho Next"/>
            </a:endParaRPr>
          </a:p>
        </p:txBody>
      </p:sp>
      <p:grpSp>
        <p:nvGrpSpPr>
          <p:cNvPr id="219" name="Groupe 2"/>
          <p:cNvGrpSpPr/>
          <p:nvPr/>
        </p:nvGrpSpPr>
        <p:grpSpPr>
          <a:xfrm>
            <a:off x="1221840" y="1027080"/>
            <a:ext cx="3958560" cy="5399640"/>
            <a:chOff x="1221840" y="1027080"/>
            <a:chExt cx="3958560" cy="5399640"/>
          </a:xfrm>
        </p:grpSpPr>
        <p:sp>
          <p:nvSpPr>
            <p:cNvPr id="220" name="Ellipse 7"/>
            <p:cNvSpPr/>
            <p:nvPr/>
          </p:nvSpPr>
          <p:spPr>
            <a:xfrm>
              <a:off x="1221840" y="1027080"/>
              <a:ext cx="1865160" cy="771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joueurs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1" name="Ellipse 11"/>
            <p:cNvSpPr/>
            <p:nvPr/>
          </p:nvSpPr>
          <p:spPr>
            <a:xfrm>
              <a:off x="3201840" y="1027080"/>
              <a:ext cx="1463760" cy="771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parties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Rectangle : coins arrondis 8"/>
            <p:cNvSpPr/>
            <p:nvPr/>
          </p:nvSpPr>
          <p:spPr>
            <a:xfrm>
              <a:off x="1401840" y="2880000"/>
              <a:ext cx="3778560" cy="46836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rgbClr val="100c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Agents + humain + LLM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Flèche : bas 18"/>
            <p:cNvSpPr/>
            <p:nvPr/>
          </p:nvSpPr>
          <p:spPr>
            <a:xfrm>
              <a:off x="2067480" y="1874880"/>
              <a:ext cx="232920" cy="10036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24" name="Ellipse 14"/>
            <p:cNvSpPr/>
            <p:nvPr/>
          </p:nvSpPr>
          <p:spPr>
            <a:xfrm>
              <a:off x="1941840" y="4140000"/>
              <a:ext cx="2338560" cy="951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joueurs relativement aux parties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Flèche : bas 19"/>
            <p:cNvSpPr/>
            <p:nvPr/>
          </p:nvSpPr>
          <p:spPr>
            <a:xfrm>
              <a:off x="3867480" y="1800000"/>
              <a:ext cx="232920" cy="10785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26" name="Flèche : bas 1"/>
            <p:cNvSpPr/>
            <p:nvPr/>
          </p:nvSpPr>
          <p:spPr>
            <a:xfrm>
              <a:off x="3021840" y="3349800"/>
              <a:ext cx="232920" cy="7185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1c1b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  <p:sp>
          <p:nvSpPr>
            <p:cNvPr id="227" name="Ellipse 1"/>
            <p:cNvSpPr/>
            <p:nvPr/>
          </p:nvSpPr>
          <p:spPr>
            <a:xfrm>
              <a:off x="1941840" y="4140360"/>
              <a:ext cx="2338560" cy="9514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636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lt1"/>
                  </a:solidFill>
                  <a:latin typeface="Cyntho Next"/>
                </a:rPr>
                <a:t>BK joueurs relativement aux parties</a:t>
              </a:r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Rectangle 285"/>
            <p:cNvSpPr/>
            <p:nvPr/>
          </p:nvSpPr>
          <p:spPr>
            <a:xfrm>
              <a:off x="1761840" y="5348160"/>
              <a:ext cx="2878560" cy="10785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000000"/>
                  </a:solidFill>
                  <a:latin typeface="Arial"/>
                </a:rPr>
                <a:t>Quelle type de partie pose le plus de difficulté à tel joueur ?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Groupe 5"/>
          <p:cNvGrpSpPr/>
          <p:nvPr/>
        </p:nvGrpSpPr>
        <p:grpSpPr>
          <a:xfrm>
            <a:off x="5623560" y="975240"/>
            <a:ext cx="5345280" cy="5451480"/>
            <a:chOff x="5623560" y="975240"/>
            <a:chExt cx="5345280" cy="5451480"/>
          </a:xfrm>
        </p:grpSpPr>
        <p:grpSp>
          <p:nvGrpSpPr>
            <p:cNvPr id="230" name="Groupe 1"/>
            <p:cNvGrpSpPr/>
            <p:nvPr/>
          </p:nvGrpSpPr>
          <p:grpSpPr>
            <a:xfrm>
              <a:off x="7010280" y="975240"/>
              <a:ext cx="3958560" cy="5451480"/>
              <a:chOff x="7010280" y="975240"/>
              <a:chExt cx="3958560" cy="5451480"/>
            </a:xfrm>
          </p:grpSpPr>
          <p:sp>
            <p:nvSpPr>
              <p:cNvPr id="231" name="Ellipse 2"/>
              <p:cNvSpPr/>
              <p:nvPr/>
            </p:nvSpPr>
            <p:spPr>
              <a:xfrm>
                <a:off x="7010280" y="1027080"/>
                <a:ext cx="1865160" cy="77148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6360f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BK 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clients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2" name="Ellipse 3"/>
              <p:cNvSpPr/>
              <p:nvPr/>
            </p:nvSpPr>
            <p:spPr>
              <a:xfrm>
                <a:off x="8990280" y="975240"/>
                <a:ext cx="1618560" cy="77148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6360f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BK 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produits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3" name="Rectangle : coins arrondis 1"/>
              <p:cNvSpPr/>
              <p:nvPr/>
            </p:nvSpPr>
            <p:spPr>
              <a:xfrm>
                <a:off x="7190280" y="2880000"/>
                <a:ext cx="3778560" cy="468360"/>
              </a:xfrm>
              <a:prstGeom prst="roundRect">
                <a:avLst>
                  <a:gd name="adj" fmla="val 16667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rgbClr val="100c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Agents + humain + LLM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4" name="Flèche : bas 2"/>
              <p:cNvSpPr/>
              <p:nvPr/>
            </p:nvSpPr>
            <p:spPr>
              <a:xfrm>
                <a:off x="7855920" y="1874880"/>
                <a:ext cx="232920" cy="100368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1c1b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fr-FR" sz="1800" spc="-1" strike="noStrike">
                  <a:solidFill>
                    <a:schemeClr val="lt1"/>
                  </a:solidFill>
                  <a:latin typeface="Cyntho Next"/>
                </a:endParaRPr>
              </a:p>
            </p:txBody>
          </p:sp>
          <p:sp>
            <p:nvSpPr>
              <p:cNvPr id="235" name="Ellipse 4"/>
              <p:cNvSpPr/>
              <p:nvPr/>
            </p:nvSpPr>
            <p:spPr>
              <a:xfrm>
                <a:off x="7730280" y="4140000"/>
                <a:ext cx="2338560" cy="95148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6360f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BK joueurs relativement aux parties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6" name="Flèche : bas 3"/>
              <p:cNvSpPr/>
              <p:nvPr/>
            </p:nvSpPr>
            <p:spPr>
              <a:xfrm>
                <a:off x="9655920" y="1800000"/>
                <a:ext cx="232920" cy="107856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1c1b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fr-FR" sz="1800" spc="-1" strike="noStrike">
                  <a:solidFill>
                    <a:schemeClr val="lt1"/>
                  </a:solidFill>
                  <a:latin typeface="Cyntho Next"/>
                </a:endParaRPr>
              </a:p>
            </p:txBody>
          </p:sp>
          <p:sp>
            <p:nvSpPr>
              <p:cNvPr id="237" name="Flèche : bas 4"/>
              <p:cNvSpPr/>
              <p:nvPr/>
            </p:nvSpPr>
            <p:spPr>
              <a:xfrm>
                <a:off x="8810280" y="3349800"/>
                <a:ext cx="232920" cy="71856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1c1b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fr-FR" sz="1800" spc="-1" strike="noStrike">
                  <a:solidFill>
                    <a:schemeClr val="lt1"/>
                  </a:solidFill>
                  <a:latin typeface="Cyntho Next"/>
                </a:endParaRPr>
              </a:p>
            </p:txBody>
          </p:sp>
          <p:sp>
            <p:nvSpPr>
              <p:cNvPr id="238" name="Ellipse 10"/>
              <p:cNvSpPr/>
              <p:nvPr/>
            </p:nvSpPr>
            <p:spPr>
              <a:xfrm>
                <a:off x="7730280" y="4140360"/>
                <a:ext cx="2338560" cy="95148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6360f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chemeClr val="lt1"/>
                    </a:solidFill>
                    <a:latin typeface="Cyntho Next"/>
                  </a:rPr>
                  <a:t>BK clients relativement aux produits</a:t>
                </a:r>
                <a:endParaRPr b="0" lang="fr-FR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9" name="Rectangle 294"/>
              <p:cNvSpPr/>
              <p:nvPr/>
            </p:nvSpPr>
            <p:spPr>
              <a:xfrm>
                <a:off x="7550280" y="5348160"/>
                <a:ext cx="2878560" cy="107856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fr-FR" sz="1800" spc="-1" strike="noStrike">
                    <a:solidFill>
                      <a:srgbClr val="000000"/>
                    </a:solidFill>
                    <a:latin typeface="Arial"/>
                  </a:rPr>
                  <a:t>Tel client va préférer quels types de produit ?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40" name="Flèche : bas 47"/>
            <p:cNvSpPr/>
            <p:nvPr/>
          </p:nvSpPr>
          <p:spPr>
            <a:xfrm rot="16249200">
              <a:off x="5758560" y="2682720"/>
              <a:ext cx="454680" cy="71892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Cyntho Nex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640</TotalTime>
  <Application>LibreOffice/24.2.7.2$Linux_X86_64 LibreOffice_project/420$Build-2</Application>
  <AppVersion>15.0000</AppVersion>
  <Words>138</Words>
  <Paragraphs>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2026-03-31T13:57:06Z</dcterms:created>
  <dc:creator>Ella DIJKSMAN</dc:creator>
  <dc:description/>
  <dc:language>fr-FR</dc:language>
  <cp:lastModifiedBy/>
  <dcterms:modified xsi:type="dcterms:W3CDTF">2026-04-07T18:19:11Z</dcterms:modified>
  <cp:revision>82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Grand écran</vt:lpwstr>
  </property>
  <property fmtid="{D5CDD505-2E9C-101B-9397-08002B2CF9AE}" pid="4" name="Slides">
    <vt:i4>3</vt:i4>
  </property>
</Properties>
</file>