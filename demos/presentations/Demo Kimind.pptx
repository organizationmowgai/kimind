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8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11.xml.rels" ContentType="application/vnd.openxmlformats-package.relationships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4.xml" ContentType="application/vnd.openxmlformats-officedocument.presentationml.slideMaster+xml"/>
  <Override PartName="/ppt/presProps.xml" ContentType="application/vnd.openxmlformats-officedocument.presentationml.presProps+xml"/>
  <Override PartName="/ppt/theme/theme29.xml" ContentType="application/vnd.openxmlformats-officedocument.theme+xml"/>
  <Override PartName="/ppt/theme/theme28.xml" ContentType="application/vnd.openxmlformats-officedocument.theme+xml"/>
  <Override PartName="/ppt/theme/theme27.xml" ContentType="application/vnd.openxmlformats-officedocument.theme+xml"/>
  <Override PartName="/ppt/theme/theme26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36.xml" ContentType="application/vnd.openxmlformats-officedocument.theme+xml"/>
  <Override PartName="/ppt/theme/theme2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40.xml" ContentType="application/vnd.openxmlformats-officedocument.theme+xml"/>
  <Override PartName="/ppt/theme/theme39.xml" ContentType="application/vnd.openxmlformats-officedocument.theme+xml"/>
  <Override PartName="/ppt/theme/theme41.xml" ContentType="application/vnd.openxmlformats-officedocument.theme+xml"/>
  <Override PartName="/ppt/theme/theme34.xml" ContentType="application/vnd.openxmlformats-officedocument.theme+xml"/>
  <Override PartName="/ppt/theme/theme7.xml" ContentType="application/vnd.openxmlformats-officedocument.theme+xml"/>
  <Override PartName="/ppt/theme/theme35.xml" ContentType="application/vnd.openxmlformats-officedocument.theme+xml"/>
  <Override PartName="/ppt/theme/theme8.xml" ContentType="application/vnd.openxmlformats-officedocument.theme+xml"/>
  <Override PartName="/ppt/theme/theme33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4.xml" ContentType="application/vnd.openxmlformats-officedocument.theme+xml"/>
  <Override PartName="/ppt/theme/theme31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12.xml" ContentType="application/vnd.openxmlformats-officedocument.theme+xml"/>
  <Override PartName="/ppt/theme/theme11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_rels/presentation.xml.rels" ContentType="application/vnd.openxmlformats-package.relationships+xml"/>
  <Override PartName="/ppt/media/image14.png" ContentType="image/png"/>
  <Override PartName="/ppt/media/image3.svg" ContentType="image/svg"/>
  <Override PartName="/ppt/media/image6.png" ContentType="image/png"/>
  <Override PartName="/ppt/media/image10.png" ContentType="image/png"/>
  <Override PartName="/ppt/media/image1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svg" ContentType="image/svg"/>
  <Override PartName="/ppt/media/image5.svg" ContentType="image/svg"/>
  <Override PartName="/ppt/media/image9.jpeg" ContentType="image/jpeg"/>
  <Override PartName="/ppt/media/image13.png" ContentType="image/png"/>
  <Override PartName="/ppt/media/image4.png" ContentType="image/png"/>
  <Override PartName="/ppt/slideLayouts/slideLayout22.xml" ContentType="application/vnd.openxmlformats-officedocument.presentationml.slideLayout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4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2" r:id="rId39"/>
    <p:sldMasterId id="2147483724" r:id="rId40"/>
    <p:sldMasterId id="2147483726" r:id="rId41"/>
    <p:sldMasterId id="2147483728" r:id="rId42"/>
  </p:sldMasterIdLst>
  <p:sldIdLst>
    <p:sldId id="256" r:id="rId43"/>
    <p:sldId id="257" r:id="rId44"/>
    <p:sldId id="258" r:id="rId45"/>
    <p:sldId id="259" r:id="rId46"/>
    <p:sldId id="260" r:id="rId47"/>
    <p:sldId id="261" r:id="rId48"/>
    <p:sldId id="262" r:id="rId49"/>
    <p:sldId id="263" r:id="rId50"/>
    <p:sldId id="264" r:id="rId51"/>
    <p:sldId id="265" r:id="rId52"/>
    <p:sldId id="266" r:id="rId53"/>
    <p:sldId id="267" r:id="rId54"/>
    <p:sldId id="268" r:id="rId55"/>
    <p:sldId id="269" r:id="rId56"/>
    <p:sldId id="270" r:id="rId57"/>
    <p:sldId id="271" r:id="rId58"/>
    <p:sldId id="272" r:id="rId59"/>
    <p:sldId id="273" r:id="rId6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" Target="slides/slide1.xml"/><Relationship Id="rId44" Type="http://schemas.openxmlformats.org/officeDocument/2006/relationships/slide" Target="slides/slide2.xml"/><Relationship Id="rId45" Type="http://schemas.openxmlformats.org/officeDocument/2006/relationships/slide" Target="slides/slide3.xml"/><Relationship Id="rId46" Type="http://schemas.openxmlformats.org/officeDocument/2006/relationships/slide" Target="slides/slide4.xml"/><Relationship Id="rId47" Type="http://schemas.openxmlformats.org/officeDocument/2006/relationships/slide" Target="slides/slide5.xml"/><Relationship Id="rId48" Type="http://schemas.openxmlformats.org/officeDocument/2006/relationships/slide" Target="slides/slide6.xml"/><Relationship Id="rId49" Type="http://schemas.openxmlformats.org/officeDocument/2006/relationships/slide" Target="slides/slide7.xml"/><Relationship Id="rId50" Type="http://schemas.openxmlformats.org/officeDocument/2006/relationships/slide" Target="slides/slide8.xml"/><Relationship Id="rId51" Type="http://schemas.openxmlformats.org/officeDocument/2006/relationships/slide" Target="slides/slide9.xml"/><Relationship Id="rId52" Type="http://schemas.openxmlformats.org/officeDocument/2006/relationships/slide" Target="slides/slide10.xml"/><Relationship Id="rId53" Type="http://schemas.openxmlformats.org/officeDocument/2006/relationships/slide" Target="slides/slide11.xml"/><Relationship Id="rId54" Type="http://schemas.openxmlformats.org/officeDocument/2006/relationships/slide" Target="slides/slide12.xml"/><Relationship Id="rId55" Type="http://schemas.openxmlformats.org/officeDocument/2006/relationships/slide" Target="slides/slide13.xml"/><Relationship Id="rId56" Type="http://schemas.openxmlformats.org/officeDocument/2006/relationships/slide" Target="slides/slide14.xml"/><Relationship Id="rId57" Type="http://schemas.openxmlformats.org/officeDocument/2006/relationships/slide" Target="slides/slide15.xml"/><Relationship Id="rId58" Type="http://schemas.openxmlformats.org/officeDocument/2006/relationships/slide" Target="slides/slide16.xml"/><Relationship Id="rId59" Type="http://schemas.openxmlformats.org/officeDocument/2006/relationships/slide" Target="slides/slide17.xml"/><Relationship Id="rId60" Type="http://schemas.openxmlformats.org/officeDocument/2006/relationships/slide" Target="slides/slide18.xml"/><Relationship Id="rId6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Divid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CECAD07-FB5F-4660-97B8-15CACF66A89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Four blocks with high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d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vi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vid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our images + four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Divid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vider with 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vider with image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our circles with high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 column - sma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 column - big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 column - char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our highlight blocks + four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Slide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Four highlight blocks + four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hree circles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our highlight blocks centered + four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x blocks with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our blocks with high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Title Slide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hree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ou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hree colored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bar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 column - char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Title Slide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Divid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Divider with image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svg"/><Relationship Id="rId5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svg"/><Relationship Id="rId5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svg"/><Relationship Id="rId5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slideLayout" Target="../slideLayouts/slideLayout37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slideLayout" Target="../slideLayouts/slideLayout38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slideLayout" Target="../slideLayouts/slideLayout39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slideLayout" Target="../slideLayouts/slideLayout40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slideLayout" Target="../slideLayouts/slideLayout4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l="-2992" r="-2992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 Number Placeholder 10" hidden="1"/>
          <p:cNvSpPr/>
          <p:nvPr/>
        </p:nvSpPr>
        <p:spPr>
          <a:xfrm>
            <a:off x="11429280" y="6298560"/>
            <a:ext cx="455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D094B40C-FAA9-43D8-8581-63490B3F9A3A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" name="Graphique 3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11400" y="6194880"/>
            <a:ext cx="652320" cy="460440"/>
          </a:xfrm>
          <a:prstGeom prst="rect">
            <a:avLst/>
          </a:prstGeom>
          <a:ln w="0">
            <a:noFill/>
          </a:ln>
        </p:spPr>
      </p:pic>
      <p:sp>
        <p:nvSpPr>
          <p:cNvPr id="2" name="TextBox 3"/>
          <p:cNvSpPr/>
          <p:nvPr/>
        </p:nvSpPr>
        <p:spPr>
          <a:xfrm>
            <a:off x="914760" y="6206760"/>
            <a:ext cx="374904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700" spc="-1" strike="noStrike">
                <a:solidFill>
                  <a:schemeClr val="lt1"/>
                </a:solidFill>
                <a:latin typeface="Cyntho Next"/>
                <a:ea typeface="Verdana"/>
              </a:rPr>
              <a:t>Confidential information owned by NukkAI, to be used by the recipient only. This document, or any part of it, may not be reproduced, copied, circulated and/or distributed nor quoted without prior written approval from NukkAI.</a:t>
            </a:r>
            <a:endParaRPr b="0" lang="fr-FR" sz="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0"/>
          <p:cNvSpPr/>
          <p:nvPr/>
        </p:nvSpPr>
        <p:spPr>
          <a:xfrm>
            <a:off x="11429280" y="6298560"/>
            <a:ext cx="455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5D0D94B6-A5C3-4D94-B8EA-105D9C257317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03880" y="2853720"/>
            <a:ext cx="9141840" cy="113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chemeClr val="dk1"/>
                </a:solidFill>
                <a:latin typeface="Cyntho Nex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AC088629-0577-470E-8DFA-9FFC42B94E8B}" type="slidenum">
              <a:rPr b="0" lang="fr-FR" sz="1800" spc="-1" strike="noStrike">
                <a:solidFill>
                  <a:schemeClr val="dk1"/>
                </a:solidFill>
                <a:latin typeface="Cyntho Next"/>
              </a:rPr>
              <a:t>&lt;numéro&gt;</a:t>
            </a:fld>
            <a:endParaRPr b="0" lang="fr-F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10"/>
          <p:cNvSpPr/>
          <p:nvPr/>
        </p:nvSpPr>
        <p:spPr>
          <a:xfrm>
            <a:off x="11429280" y="6298560"/>
            <a:ext cx="455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D2667B69-4057-4E9B-A978-5E6EB9485652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Rectangle: Rounded Corners 19"/>
          <p:cNvSpPr/>
          <p:nvPr/>
        </p:nvSpPr>
        <p:spPr>
          <a:xfrm>
            <a:off x="417960" y="1376640"/>
            <a:ext cx="2747880" cy="46792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12" name="Rectangle: Rounded Corners 20"/>
          <p:cNvSpPr/>
          <p:nvPr/>
        </p:nvSpPr>
        <p:spPr>
          <a:xfrm>
            <a:off x="3291480" y="1376640"/>
            <a:ext cx="2747880" cy="467928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13" name="Rectangle: Rounded Corners 21"/>
          <p:cNvSpPr/>
          <p:nvPr/>
        </p:nvSpPr>
        <p:spPr>
          <a:xfrm>
            <a:off x="6165000" y="1376640"/>
            <a:ext cx="2747880" cy="467928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14" name="Rectangle: Rounded Corners 22"/>
          <p:cNvSpPr/>
          <p:nvPr/>
        </p:nvSpPr>
        <p:spPr>
          <a:xfrm>
            <a:off x="9038520" y="1376640"/>
            <a:ext cx="2747880" cy="467928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15" name="Text Placeholder 4"/>
          <p:cNvSpPr/>
          <p:nvPr/>
        </p:nvSpPr>
        <p:spPr>
          <a:xfrm>
            <a:off x="563760" y="1481400"/>
            <a:ext cx="2455920" cy="30996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62222" lnSpcReduction="10000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chemeClr val="lt2"/>
                </a:solidFill>
                <a:latin typeface="Cyntho Next SemiBold"/>
              </a:rPr>
              <a:t>Cliquez pour modifier les styles du texte du masque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Placeholder 4"/>
          <p:cNvSpPr/>
          <p:nvPr/>
        </p:nvSpPr>
        <p:spPr>
          <a:xfrm>
            <a:off x="563760" y="1878840"/>
            <a:ext cx="2455920" cy="405864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chemeClr val="lt1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Placeholder 4"/>
          <p:cNvSpPr/>
          <p:nvPr/>
        </p:nvSpPr>
        <p:spPr>
          <a:xfrm>
            <a:off x="3437640" y="1481400"/>
            <a:ext cx="2455920" cy="30996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62222" lnSpcReduction="10000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Cyntho Next SemiBold"/>
              </a:rPr>
              <a:t>Cliquez pour modifier les styles du texte du masque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Placeholder 4"/>
          <p:cNvSpPr/>
          <p:nvPr/>
        </p:nvSpPr>
        <p:spPr>
          <a:xfrm>
            <a:off x="3437640" y="1878840"/>
            <a:ext cx="2455920" cy="405864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Placeholder 4"/>
          <p:cNvSpPr/>
          <p:nvPr/>
        </p:nvSpPr>
        <p:spPr>
          <a:xfrm>
            <a:off x="6311160" y="1481400"/>
            <a:ext cx="2455920" cy="30996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62222" lnSpcReduction="10000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Cyntho Next SemiBold"/>
              </a:rPr>
              <a:t>Cliquez pour modifier les styles du texte du masque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Placeholder 4"/>
          <p:cNvSpPr/>
          <p:nvPr/>
        </p:nvSpPr>
        <p:spPr>
          <a:xfrm>
            <a:off x="6311160" y="1878840"/>
            <a:ext cx="2455920" cy="405864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Placeholder 4"/>
          <p:cNvSpPr/>
          <p:nvPr/>
        </p:nvSpPr>
        <p:spPr>
          <a:xfrm>
            <a:off x="9184680" y="1481400"/>
            <a:ext cx="2455920" cy="30996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62222" lnSpcReduction="10000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Cyntho Next SemiBold"/>
              </a:rPr>
              <a:t>Cliquez pour modifier les styles du texte du masque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Placeholder 4"/>
          <p:cNvSpPr/>
          <p:nvPr/>
        </p:nvSpPr>
        <p:spPr>
          <a:xfrm>
            <a:off x="9184680" y="1878840"/>
            <a:ext cx="2455920" cy="405864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" name="Graphique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2320" cy="4604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10"/>
          <p:cNvSpPr/>
          <p:nvPr/>
        </p:nvSpPr>
        <p:spPr>
          <a:xfrm>
            <a:off x="11429280" y="6298560"/>
            <a:ext cx="455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C09A37BF-6176-4372-8384-13562528F5C4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" name="Graphique 4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074240" y="206280"/>
            <a:ext cx="1678320" cy="1185840"/>
          </a:xfrm>
          <a:prstGeom prst="rect">
            <a:avLst/>
          </a:prstGeom>
          <a:ln w="0">
            <a:noFill/>
          </a:ln>
        </p:spPr>
      </p:pic>
      <p:sp>
        <p:nvSpPr>
          <p:cNvPr id="26" name="Slide Number Placeholder 10"/>
          <p:cNvSpPr/>
          <p:nvPr/>
        </p:nvSpPr>
        <p:spPr>
          <a:xfrm>
            <a:off x="11429280" y="6298560"/>
            <a:ext cx="455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DDECD5E1-EF7A-4ED6-9B0F-B8A892506DA7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l="-1991" r="-1991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10" hidden="1"/>
          <p:cNvSpPr/>
          <p:nvPr/>
        </p:nvSpPr>
        <p:spPr>
          <a:xfrm>
            <a:off x="11429280" y="6298560"/>
            <a:ext cx="455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617E94F6-C217-4EA3-ABE3-B5B5CC7E6975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" name="Graphique 3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55400" y="1069920"/>
            <a:ext cx="1678320" cy="11858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5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l="-2992" r="-2992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10" hidden="1"/>
          <p:cNvSpPr/>
          <p:nvPr/>
        </p:nvSpPr>
        <p:spPr>
          <a:xfrm>
            <a:off x="11429280" y="6298560"/>
            <a:ext cx="455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580D176B-AD4F-493A-AFF0-A3772CC0EC5C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0" name="Graphique 1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78200" y="810360"/>
            <a:ext cx="2145960" cy="15170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5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10"/>
          <p:cNvSpPr/>
          <p:nvPr/>
        </p:nvSpPr>
        <p:spPr>
          <a:xfrm>
            <a:off x="11429280" y="6298560"/>
            <a:ext cx="455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92CD478B-50A4-4E3C-8814-AA744A84B504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" name="Graphique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2320" cy="4604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l="-2992" r="-2992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10" hidden="1"/>
          <p:cNvSpPr/>
          <p:nvPr/>
        </p:nvSpPr>
        <p:spPr>
          <a:xfrm>
            <a:off x="11429280" y="6298560"/>
            <a:ext cx="455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0444AAB6-0835-42AA-A59F-D5317C7DD95A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4" name="Graphique 1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77840" y="810360"/>
            <a:ext cx="2146680" cy="15170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5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l="-1991" r="-1991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10" hidden="1"/>
          <p:cNvSpPr/>
          <p:nvPr/>
        </p:nvSpPr>
        <p:spPr>
          <a:xfrm>
            <a:off x="11429280" y="6298560"/>
            <a:ext cx="455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0C19A7A4-1ADB-4A98-BF36-781D64485646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" name="Graphique 1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55400" y="1069920"/>
            <a:ext cx="1678320" cy="11858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5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l="-2992" r="-2992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10" hidden="1"/>
          <p:cNvSpPr/>
          <p:nvPr/>
        </p:nvSpPr>
        <p:spPr>
          <a:xfrm>
            <a:off x="11429280" y="6298560"/>
            <a:ext cx="455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43D2C712-F994-45D7-9E1F-D2FEBCE3E39A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8" name="Graphique 2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55760" y="1069920"/>
            <a:ext cx="1677600" cy="11858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5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10"/>
          <p:cNvSpPr/>
          <p:nvPr/>
        </p:nvSpPr>
        <p:spPr>
          <a:xfrm>
            <a:off x="11429280" y="6298560"/>
            <a:ext cx="455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C51FAA26-B446-44C0-BFB0-C1D04D7AB462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Oval 19"/>
          <p:cNvSpPr/>
          <p:nvPr/>
        </p:nvSpPr>
        <p:spPr>
          <a:xfrm>
            <a:off x="727920" y="1481400"/>
            <a:ext cx="2157840" cy="21578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41" name="Text Placeholder 4"/>
          <p:cNvSpPr/>
          <p:nvPr/>
        </p:nvSpPr>
        <p:spPr>
          <a:xfrm>
            <a:off x="939600" y="1915560"/>
            <a:ext cx="1761840" cy="128988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chemeClr val="lt1"/>
                </a:solidFill>
                <a:latin typeface="Cyntho Next SemiBold"/>
              </a:rPr>
              <a:t>Cliquez pour modifier les styles du texte du masque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Placeholder 4"/>
          <p:cNvSpPr/>
          <p:nvPr/>
        </p:nvSpPr>
        <p:spPr>
          <a:xfrm>
            <a:off x="727920" y="3884040"/>
            <a:ext cx="2157840" cy="198720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Placeholder 4"/>
          <p:cNvSpPr/>
          <p:nvPr/>
        </p:nvSpPr>
        <p:spPr>
          <a:xfrm>
            <a:off x="3564720" y="3884040"/>
            <a:ext cx="2157840" cy="198720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Placeholder 4"/>
          <p:cNvSpPr/>
          <p:nvPr/>
        </p:nvSpPr>
        <p:spPr>
          <a:xfrm>
            <a:off x="6463080" y="3884040"/>
            <a:ext cx="2157840" cy="198720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Placeholder 4"/>
          <p:cNvSpPr/>
          <p:nvPr/>
        </p:nvSpPr>
        <p:spPr>
          <a:xfrm>
            <a:off x="9361800" y="3884040"/>
            <a:ext cx="2157840" cy="198720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Oval 23"/>
          <p:cNvSpPr/>
          <p:nvPr/>
        </p:nvSpPr>
        <p:spPr>
          <a:xfrm>
            <a:off x="3564720" y="1481400"/>
            <a:ext cx="2157840" cy="21578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47" name="Oval 24"/>
          <p:cNvSpPr/>
          <p:nvPr/>
        </p:nvSpPr>
        <p:spPr>
          <a:xfrm>
            <a:off x="6463080" y="1481400"/>
            <a:ext cx="2157840" cy="21578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48" name="Oval 25"/>
          <p:cNvSpPr/>
          <p:nvPr/>
        </p:nvSpPr>
        <p:spPr>
          <a:xfrm>
            <a:off x="9361800" y="1481400"/>
            <a:ext cx="2157840" cy="21578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49" name="Text Placeholder 4"/>
          <p:cNvSpPr/>
          <p:nvPr/>
        </p:nvSpPr>
        <p:spPr>
          <a:xfrm>
            <a:off x="3776040" y="1915560"/>
            <a:ext cx="1761840" cy="128988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chemeClr val="lt1"/>
                </a:solidFill>
                <a:latin typeface="Cyntho Next SemiBold"/>
              </a:rPr>
              <a:t>Cliquez pour modifier les styles du texte du masque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Placeholder 4"/>
          <p:cNvSpPr/>
          <p:nvPr/>
        </p:nvSpPr>
        <p:spPr>
          <a:xfrm>
            <a:off x="6661080" y="1915560"/>
            <a:ext cx="1761840" cy="128988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chemeClr val="lt1"/>
                </a:solidFill>
                <a:latin typeface="Cyntho Next SemiBold"/>
              </a:rPr>
              <a:t>Cliquez pour modifier les styles du texte du masque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Placeholder 4"/>
          <p:cNvSpPr/>
          <p:nvPr/>
        </p:nvSpPr>
        <p:spPr>
          <a:xfrm>
            <a:off x="9559440" y="1915560"/>
            <a:ext cx="1761840" cy="128988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chemeClr val="lt1"/>
                </a:solidFill>
                <a:latin typeface="Cyntho Next SemiBold"/>
              </a:rPr>
              <a:t>Cliquez pour modifier les styles du texte du masque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" name="Graphique 3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2320" cy="4604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4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lide Number Placeholder 10"/>
          <p:cNvSpPr/>
          <p:nvPr/>
        </p:nvSpPr>
        <p:spPr>
          <a:xfrm>
            <a:off x="11429280" y="6298560"/>
            <a:ext cx="455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308D803D-1AB7-4D00-8A62-CFB7AD3D5687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" name="Graphique 2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2320" cy="4604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4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lide Number Placeholder 10"/>
          <p:cNvSpPr/>
          <p:nvPr/>
        </p:nvSpPr>
        <p:spPr>
          <a:xfrm>
            <a:off x="11429280" y="6298560"/>
            <a:ext cx="455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F01935B9-F0B6-487F-8443-4A563ED8225A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" name="Graphique 2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2320" cy="4604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4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lide Number Placeholder 10"/>
          <p:cNvSpPr/>
          <p:nvPr/>
        </p:nvSpPr>
        <p:spPr>
          <a:xfrm>
            <a:off x="11429280" y="6298560"/>
            <a:ext cx="455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DE82A4D9-3AAF-4489-9EC0-1E7E513FEF08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8" name="Graphique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2320" cy="4604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lide Number Placeholder 10"/>
          <p:cNvSpPr/>
          <p:nvPr/>
        </p:nvSpPr>
        <p:spPr>
          <a:xfrm>
            <a:off x="11429280" y="6298560"/>
            <a:ext cx="455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207821B5-0AE8-4E2F-9299-68A851F8078F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Rectangle: Rounded Corners 19"/>
          <p:cNvSpPr/>
          <p:nvPr/>
        </p:nvSpPr>
        <p:spPr>
          <a:xfrm>
            <a:off x="417960" y="1376640"/>
            <a:ext cx="5505840" cy="4996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61" name="Rectangle: Rounded Corners 20"/>
          <p:cNvSpPr/>
          <p:nvPr/>
        </p:nvSpPr>
        <p:spPr>
          <a:xfrm>
            <a:off x="6256800" y="1386720"/>
            <a:ext cx="5541840" cy="4996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62" name="Text Placeholder 4"/>
          <p:cNvSpPr/>
          <p:nvPr/>
        </p:nvSpPr>
        <p:spPr>
          <a:xfrm>
            <a:off x="597960" y="1481400"/>
            <a:ext cx="5145840" cy="30996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chemeClr val="lt2"/>
                </a:solidFill>
                <a:latin typeface="Cyntho Next SemiBold"/>
              </a:rPr>
              <a:t>Cliquez pour modifier les styles du texte du masque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Placeholder 4"/>
          <p:cNvSpPr/>
          <p:nvPr/>
        </p:nvSpPr>
        <p:spPr>
          <a:xfrm>
            <a:off x="597960" y="1983600"/>
            <a:ext cx="5145840" cy="395388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Placeholder 4"/>
          <p:cNvSpPr/>
          <p:nvPr/>
        </p:nvSpPr>
        <p:spPr>
          <a:xfrm>
            <a:off x="6454800" y="1481400"/>
            <a:ext cx="5145840" cy="30996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chemeClr val="lt2"/>
                </a:solidFill>
                <a:latin typeface="Cyntho Next SemiBold"/>
              </a:rPr>
              <a:t>Cliquez pour modifier les styles du texte du masque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Placeholder 4"/>
          <p:cNvSpPr/>
          <p:nvPr/>
        </p:nvSpPr>
        <p:spPr>
          <a:xfrm>
            <a:off x="6454800" y="1983600"/>
            <a:ext cx="5145840" cy="395388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" name="Graphique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2320" cy="4604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4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lide Number Placeholder 10"/>
          <p:cNvSpPr/>
          <p:nvPr/>
        </p:nvSpPr>
        <p:spPr>
          <a:xfrm>
            <a:off x="11429280" y="6298560"/>
            <a:ext cx="455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53389423-333E-49B4-94E3-2F30CC94E576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" name="Graphique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2320" cy="4604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4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lide Number Placeholder 10"/>
          <p:cNvSpPr/>
          <p:nvPr/>
        </p:nvSpPr>
        <p:spPr>
          <a:xfrm>
            <a:off x="11429280" y="6298560"/>
            <a:ext cx="455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F0A416D3-56C2-4106-BE05-02C7D4F1ECA9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0" name="Graphique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2320" cy="4604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4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Number Placeholder 10"/>
          <p:cNvSpPr/>
          <p:nvPr/>
        </p:nvSpPr>
        <p:spPr>
          <a:xfrm>
            <a:off x="11429280" y="6298560"/>
            <a:ext cx="455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C13D33FD-77C7-4633-B1EF-D5395F729DDF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2" name="Graphique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2320" cy="4604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4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lide Number Placeholder 10"/>
          <p:cNvSpPr/>
          <p:nvPr/>
        </p:nvSpPr>
        <p:spPr>
          <a:xfrm>
            <a:off x="11429280" y="6298560"/>
            <a:ext cx="455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9A60DEF1-45A1-4196-A59D-980468E6895D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Rectangle: Rounded Corners 13"/>
          <p:cNvSpPr/>
          <p:nvPr/>
        </p:nvSpPr>
        <p:spPr>
          <a:xfrm>
            <a:off x="422640" y="1429920"/>
            <a:ext cx="2068200" cy="212832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nl-NL" sz="1800" spc="-1" strike="noStrike">
              <a:solidFill>
                <a:schemeClr val="accent5"/>
              </a:solidFill>
              <a:latin typeface="Cyntho Next"/>
            </a:endParaRPr>
          </a:p>
        </p:txBody>
      </p:sp>
      <p:sp>
        <p:nvSpPr>
          <p:cNvPr id="75" name="Rectangle: Rounded Corners 16"/>
          <p:cNvSpPr/>
          <p:nvPr/>
        </p:nvSpPr>
        <p:spPr>
          <a:xfrm>
            <a:off x="422640" y="3831120"/>
            <a:ext cx="2068200" cy="212832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nl-NL" sz="1800" spc="-1" strike="noStrike">
              <a:solidFill>
                <a:schemeClr val="lt2"/>
              </a:solidFill>
              <a:latin typeface="Cyntho Next"/>
            </a:endParaRPr>
          </a:p>
        </p:txBody>
      </p:sp>
      <p:sp>
        <p:nvSpPr>
          <p:cNvPr id="76" name="Rectangle: Rounded Corners 26"/>
          <p:cNvSpPr/>
          <p:nvPr/>
        </p:nvSpPr>
        <p:spPr>
          <a:xfrm>
            <a:off x="6287760" y="1429920"/>
            <a:ext cx="2068200" cy="2128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nl-NL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77" name="Rectangle: Rounded Corners 27"/>
          <p:cNvSpPr/>
          <p:nvPr/>
        </p:nvSpPr>
        <p:spPr>
          <a:xfrm>
            <a:off x="6287760" y="3831120"/>
            <a:ext cx="2068200" cy="2128320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nl-NL" sz="1800" spc="-1" strike="noStrike">
              <a:solidFill>
                <a:schemeClr val="lt1"/>
              </a:solidFill>
              <a:latin typeface="Cyntho Next"/>
            </a:endParaRPr>
          </a:p>
        </p:txBody>
      </p:sp>
      <p:pic>
        <p:nvPicPr>
          <p:cNvPr id="78" name="Graphique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2320" cy="4604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4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l="-2992" r="-2992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Number Placeholder 10" hidden="1"/>
          <p:cNvSpPr/>
          <p:nvPr/>
        </p:nvSpPr>
        <p:spPr>
          <a:xfrm>
            <a:off x="11429280" y="6298560"/>
            <a:ext cx="455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15C7A105-485A-4567-871E-CB9CE5DA1132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0" name="Graphique 4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021640" y="328680"/>
            <a:ext cx="2146680" cy="15170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5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Number Placeholder 10"/>
          <p:cNvSpPr/>
          <p:nvPr/>
        </p:nvSpPr>
        <p:spPr>
          <a:xfrm>
            <a:off x="11429280" y="6298560"/>
            <a:ext cx="455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EC26EAD7-6378-4B86-913F-697E2F2A2D21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Rectangle: Rounded Corners 16"/>
          <p:cNvSpPr/>
          <p:nvPr/>
        </p:nvSpPr>
        <p:spPr>
          <a:xfrm>
            <a:off x="422640" y="3831120"/>
            <a:ext cx="2068200" cy="212832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nl-NL" sz="1800" spc="-1" strike="noStrike">
              <a:solidFill>
                <a:schemeClr val="lt2"/>
              </a:solidFill>
              <a:latin typeface="Cyntho Next"/>
            </a:endParaRPr>
          </a:p>
        </p:txBody>
      </p:sp>
      <p:sp>
        <p:nvSpPr>
          <p:cNvPr id="83" name="Rectangle: Rounded Corners 26"/>
          <p:cNvSpPr/>
          <p:nvPr/>
        </p:nvSpPr>
        <p:spPr>
          <a:xfrm>
            <a:off x="6287760" y="1429920"/>
            <a:ext cx="2068200" cy="2128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nl-NL" sz="1800" spc="-1" strike="noStrike">
              <a:solidFill>
                <a:schemeClr val="lt1"/>
              </a:solidFill>
              <a:latin typeface="Cyntho Next"/>
            </a:endParaRPr>
          </a:p>
        </p:txBody>
      </p:sp>
      <p:pic>
        <p:nvPicPr>
          <p:cNvPr id="84" name="Graphique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2320" cy="4604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4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lide Number Placeholder 10"/>
          <p:cNvSpPr/>
          <p:nvPr/>
        </p:nvSpPr>
        <p:spPr>
          <a:xfrm>
            <a:off x="11429280" y="6298560"/>
            <a:ext cx="455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4A20C8DB-16A4-42ED-BA37-EA67B13F914C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Oval 25"/>
          <p:cNvSpPr/>
          <p:nvPr/>
        </p:nvSpPr>
        <p:spPr>
          <a:xfrm>
            <a:off x="417960" y="1347840"/>
            <a:ext cx="1383480" cy="13834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87" name="Oval 22"/>
          <p:cNvSpPr/>
          <p:nvPr/>
        </p:nvSpPr>
        <p:spPr>
          <a:xfrm>
            <a:off x="417960" y="2936520"/>
            <a:ext cx="1383480" cy="13834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88" name="Oval 33"/>
          <p:cNvSpPr/>
          <p:nvPr/>
        </p:nvSpPr>
        <p:spPr>
          <a:xfrm>
            <a:off x="417960" y="4525200"/>
            <a:ext cx="1383480" cy="13834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pic>
        <p:nvPicPr>
          <p:cNvPr id="89" name="Graphique 3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2320" cy="4604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4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lide Number Placeholder 10"/>
          <p:cNvSpPr/>
          <p:nvPr/>
        </p:nvSpPr>
        <p:spPr>
          <a:xfrm>
            <a:off x="11429280" y="6298560"/>
            <a:ext cx="455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4E4A57B5-3E5F-4F2E-A665-810966F20323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Rectangle: Rounded Corners 13"/>
          <p:cNvSpPr/>
          <p:nvPr/>
        </p:nvSpPr>
        <p:spPr>
          <a:xfrm>
            <a:off x="3869640" y="1429920"/>
            <a:ext cx="2068200" cy="212832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nl-NL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92" name="Rectangle: Rounded Corners 16"/>
          <p:cNvSpPr/>
          <p:nvPr/>
        </p:nvSpPr>
        <p:spPr>
          <a:xfrm>
            <a:off x="3832920" y="3847320"/>
            <a:ext cx="2068200" cy="212832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nl-NL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93" name="Rectangle: Rounded Corners 26"/>
          <p:cNvSpPr/>
          <p:nvPr/>
        </p:nvSpPr>
        <p:spPr>
          <a:xfrm>
            <a:off x="6214320" y="1429920"/>
            <a:ext cx="2068200" cy="2128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nl-NL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94" name="Rectangle: Rounded Corners 27"/>
          <p:cNvSpPr/>
          <p:nvPr/>
        </p:nvSpPr>
        <p:spPr>
          <a:xfrm>
            <a:off x="6214320" y="3831120"/>
            <a:ext cx="2068200" cy="2128320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nl-NL" sz="1800" spc="-1" strike="noStrike">
              <a:solidFill>
                <a:schemeClr val="lt1"/>
              </a:solidFill>
              <a:latin typeface="Cyntho Next"/>
            </a:endParaRPr>
          </a:p>
        </p:txBody>
      </p:sp>
      <p:pic>
        <p:nvPicPr>
          <p:cNvPr id="95" name="Graphique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2320" cy="4604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4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lide Number Placeholder 10"/>
          <p:cNvSpPr/>
          <p:nvPr/>
        </p:nvSpPr>
        <p:spPr>
          <a:xfrm>
            <a:off x="11429280" y="6298560"/>
            <a:ext cx="455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68BBD153-CA8A-4CC8-AF72-764C5095D04D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7" name="Graphique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2320" cy="4604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4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lide Number Placeholder 10"/>
          <p:cNvSpPr/>
          <p:nvPr/>
        </p:nvSpPr>
        <p:spPr>
          <a:xfrm>
            <a:off x="11429280" y="6298560"/>
            <a:ext cx="455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06329143-645B-445B-85F6-2054BD232E67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Rectangle: Rounded Corners 19"/>
          <p:cNvSpPr/>
          <p:nvPr/>
        </p:nvSpPr>
        <p:spPr>
          <a:xfrm>
            <a:off x="417960" y="1376640"/>
            <a:ext cx="2747880" cy="467928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100" name="Rectangle: Rounded Corners 20"/>
          <p:cNvSpPr/>
          <p:nvPr/>
        </p:nvSpPr>
        <p:spPr>
          <a:xfrm>
            <a:off x="3291480" y="1376640"/>
            <a:ext cx="2747880" cy="467928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101" name="Rectangle: Rounded Corners 21"/>
          <p:cNvSpPr/>
          <p:nvPr/>
        </p:nvSpPr>
        <p:spPr>
          <a:xfrm>
            <a:off x="6165000" y="1376640"/>
            <a:ext cx="2747880" cy="467928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102" name="Rectangle: Rounded Corners 22"/>
          <p:cNvSpPr/>
          <p:nvPr/>
        </p:nvSpPr>
        <p:spPr>
          <a:xfrm>
            <a:off x="9038520" y="1376640"/>
            <a:ext cx="2747880" cy="46792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103" name="Text Placeholder 4"/>
          <p:cNvSpPr/>
          <p:nvPr/>
        </p:nvSpPr>
        <p:spPr>
          <a:xfrm>
            <a:off x="563760" y="1481400"/>
            <a:ext cx="2455920" cy="30996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62222" lnSpcReduction="10000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Cyntho Next SemiBold"/>
              </a:rPr>
              <a:t>Cliquez pour modifier les styles du texte du masque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Placeholder 4"/>
          <p:cNvSpPr/>
          <p:nvPr/>
        </p:nvSpPr>
        <p:spPr>
          <a:xfrm>
            <a:off x="563760" y="1878840"/>
            <a:ext cx="2455920" cy="405864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Placeholder 4"/>
          <p:cNvSpPr/>
          <p:nvPr/>
        </p:nvSpPr>
        <p:spPr>
          <a:xfrm>
            <a:off x="3437640" y="1481400"/>
            <a:ext cx="2455920" cy="30996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62222" lnSpcReduction="10000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Cyntho Next SemiBold"/>
              </a:rPr>
              <a:t>Cliquez pour modifier les styles du texte du masque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Placeholder 4"/>
          <p:cNvSpPr/>
          <p:nvPr/>
        </p:nvSpPr>
        <p:spPr>
          <a:xfrm>
            <a:off x="3437640" y="1878840"/>
            <a:ext cx="2455920" cy="405864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Placeholder 4"/>
          <p:cNvSpPr/>
          <p:nvPr/>
        </p:nvSpPr>
        <p:spPr>
          <a:xfrm>
            <a:off x="6311160" y="1481400"/>
            <a:ext cx="2455920" cy="30996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62222" lnSpcReduction="10000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Cyntho Next SemiBold"/>
              </a:rPr>
              <a:t>Cliquez pour modifier les styles du texte du masque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Placeholder 4"/>
          <p:cNvSpPr/>
          <p:nvPr/>
        </p:nvSpPr>
        <p:spPr>
          <a:xfrm>
            <a:off x="6311160" y="1878840"/>
            <a:ext cx="2455920" cy="405864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Placeholder 4"/>
          <p:cNvSpPr/>
          <p:nvPr/>
        </p:nvSpPr>
        <p:spPr>
          <a:xfrm>
            <a:off x="9184680" y="1481400"/>
            <a:ext cx="2455920" cy="30996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62222" lnSpcReduction="10000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chemeClr val="lt2"/>
                </a:solidFill>
                <a:latin typeface="Cyntho Next SemiBold"/>
              </a:rPr>
              <a:t>Cliquez pour modifier les styles du texte du masque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Placeholder 4"/>
          <p:cNvSpPr/>
          <p:nvPr/>
        </p:nvSpPr>
        <p:spPr>
          <a:xfrm>
            <a:off x="9184680" y="1878840"/>
            <a:ext cx="2455920" cy="405864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chemeClr val="lt1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1" name="Graphique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2320" cy="4604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4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l="-2992" r="-2992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lide Number Placeholder 10" hidden="1"/>
          <p:cNvSpPr/>
          <p:nvPr/>
        </p:nvSpPr>
        <p:spPr>
          <a:xfrm>
            <a:off x="11429280" y="6298560"/>
            <a:ext cx="455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B86DA081-637F-4FFD-AA78-1CA32663890C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3" name="Graphique 4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021640" y="328680"/>
            <a:ext cx="2146680" cy="1517040"/>
          </a:xfrm>
          <a:prstGeom prst="rect">
            <a:avLst/>
          </a:prstGeom>
          <a:ln w="0">
            <a:noFill/>
          </a:ln>
        </p:spPr>
      </p:pic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ffffff"/>
                </a:solidFill>
                <a:latin typeface="Arial"/>
              </a:rPr>
              <a:t>Cliquez pour éditer le format du texte-titre</a:t>
            </a:r>
            <a:endParaRPr b="0" lang="fr-F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ffffff"/>
                </a:solidFill>
                <a:latin typeface="Arial"/>
              </a:rPr>
              <a:t>Cliquez pour éditer le format du plan de texte</a:t>
            </a:r>
            <a:endParaRPr b="0" lang="fr-FR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ffffff"/>
                </a:solidFill>
                <a:latin typeface="Arial"/>
              </a:rPr>
              <a:t>Second niveau de plan</a:t>
            </a:r>
            <a:endParaRPr b="0" lang="fr-FR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ffffff"/>
                </a:solidFill>
                <a:latin typeface="Arial"/>
              </a:rPr>
              <a:t>Troisième niveau de plan</a:t>
            </a:r>
            <a:endParaRPr b="0" lang="fr-FR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ffffff"/>
                </a:solidFill>
                <a:latin typeface="Arial"/>
              </a:rPr>
              <a:t>Quatrième niveau de plan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ffffff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ffffff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ffffff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5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l="-2992" r="-2992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lide Number Placeholder 10" hidden="1"/>
          <p:cNvSpPr/>
          <p:nvPr/>
        </p:nvSpPr>
        <p:spPr>
          <a:xfrm>
            <a:off x="11429280" y="6298560"/>
            <a:ext cx="455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5A3882C8-0D8E-4B29-A6C9-C58896B99BFC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7" name="Graphique 4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022000" y="328680"/>
            <a:ext cx="2145960" cy="1517040"/>
          </a:xfrm>
          <a:prstGeom prst="rect">
            <a:avLst/>
          </a:prstGeom>
          <a:ln w="0">
            <a:noFill/>
          </a:ln>
        </p:spPr>
      </p:pic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ffffff"/>
                </a:solidFill>
                <a:latin typeface="Arial"/>
              </a:rPr>
              <a:t>Cliquez pour éditer le format du texte-titre</a:t>
            </a:r>
            <a:endParaRPr b="0" lang="fr-F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ffffff"/>
                </a:solidFill>
                <a:latin typeface="Arial"/>
              </a:rPr>
              <a:t>Cliquez pour éditer le format du plan de texte</a:t>
            </a:r>
            <a:endParaRPr b="0" lang="fr-FR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ffffff"/>
                </a:solidFill>
                <a:latin typeface="Arial"/>
              </a:rPr>
              <a:t>Second niveau de plan</a:t>
            </a:r>
            <a:endParaRPr b="0" lang="fr-FR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ffffff"/>
                </a:solidFill>
                <a:latin typeface="Arial"/>
              </a:rPr>
              <a:t>Troisième niveau de plan</a:t>
            </a:r>
            <a:endParaRPr b="0" lang="fr-FR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ffffff"/>
                </a:solidFill>
                <a:latin typeface="Arial"/>
              </a:rPr>
              <a:t>Quatrième niveau de plan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ffffff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ffffff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ffffff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5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lide Number Placeholder 10"/>
          <p:cNvSpPr/>
          <p:nvPr/>
        </p:nvSpPr>
        <p:spPr>
          <a:xfrm>
            <a:off x="11429280" y="6298560"/>
            <a:ext cx="455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E074824E-2E06-4D4D-8D60-D978B6A75CD3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Rectangle: Rounded Corners 19"/>
          <p:cNvSpPr/>
          <p:nvPr/>
        </p:nvSpPr>
        <p:spPr>
          <a:xfrm>
            <a:off x="417960" y="1376640"/>
            <a:ext cx="3417840" cy="4996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122" name="Rectangle: Rounded Corners 20"/>
          <p:cNvSpPr/>
          <p:nvPr/>
        </p:nvSpPr>
        <p:spPr>
          <a:xfrm>
            <a:off x="4399200" y="1386720"/>
            <a:ext cx="3417840" cy="4996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123" name="Rectangle: Rounded Corners 21"/>
          <p:cNvSpPr/>
          <p:nvPr/>
        </p:nvSpPr>
        <p:spPr>
          <a:xfrm>
            <a:off x="8380800" y="1386720"/>
            <a:ext cx="3417840" cy="4996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124" name="Text Placeholder 4"/>
          <p:cNvSpPr/>
          <p:nvPr/>
        </p:nvSpPr>
        <p:spPr>
          <a:xfrm>
            <a:off x="507960" y="1481400"/>
            <a:ext cx="3237840" cy="30996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rmAutofit fontScale="68333" lnSpcReduction="20000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chemeClr val="lt2"/>
                </a:solidFill>
                <a:latin typeface="Cyntho Next SemiBold"/>
              </a:rPr>
              <a:t>Cliquez pour modifier les styles du texte du masque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Placeholder 4"/>
          <p:cNvSpPr/>
          <p:nvPr/>
        </p:nvSpPr>
        <p:spPr>
          <a:xfrm>
            <a:off x="507960" y="1983600"/>
            <a:ext cx="3237840" cy="395388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Placeholder 4"/>
          <p:cNvSpPr/>
          <p:nvPr/>
        </p:nvSpPr>
        <p:spPr>
          <a:xfrm>
            <a:off x="4489200" y="1481400"/>
            <a:ext cx="3237840" cy="30996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68333" lnSpcReduction="20000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chemeClr val="lt2"/>
                </a:solidFill>
                <a:latin typeface="Cyntho Next SemiBold"/>
              </a:rPr>
              <a:t>Cliquez pour modifier les styles du texte du masque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Placeholder 4"/>
          <p:cNvSpPr/>
          <p:nvPr/>
        </p:nvSpPr>
        <p:spPr>
          <a:xfrm>
            <a:off x="4489200" y="1983600"/>
            <a:ext cx="3237840" cy="395388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Placeholder 4"/>
          <p:cNvSpPr/>
          <p:nvPr/>
        </p:nvSpPr>
        <p:spPr>
          <a:xfrm>
            <a:off x="8470800" y="1481400"/>
            <a:ext cx="3237840" cy="30996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68333" lnSpcReduction="20000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chemeClr val="lt2"/>
                </a:solidFill>
                <a:latin typeface="Cyntho Next SemiBold"/>
              </a:rPr>
              <a:t>Cliquez pour modifier les styles du texte du masque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Placeholder 4"/>
          <p:cNvSpPr/>
          <p:nvPr/>
        </p:nvSpPr>
        <p:spPr>
          <a:xfrm>
            <a:off x="8470800" y="1983600"/>
            <a:ext cx="3237840" cy="395388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0" name="Graphique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2320" cy="4604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4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lide Number Placeholder 10"/>
          <p:cNvSpPr/>
          <p:nvPr/>
        </p:nvSpPr>
        <p:spPr>
          <a:xfrm>
            <a:off x="11429280" y="6298560"/>
            <a:ext cx="455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3E272282-B836-4584-BFFF-F065EACE4402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Rectangle: Rounded Corners 19"/>
          <p:cNvSpPr/>
          <p:nvPr/>
        </p:nvSpPr>
        <p:spPr>
          <a:xfrm>
            <a:off x="417960" y="1376640"/>
            <a:ext cx="2697840" cy="4996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133" name="Rectangle: Rounded Corners 20"/>
          <p:cNvSpPr/>
          <p:nvPr/>
        </p:nvSpPr>
        <p:spPr>
          <a:xfrm>
            <a:off x="3312000" y="1376640"/>
            <a:ext cx="2697840" cy="4996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134" name="Rectangle: Rounded Corners 21"/>
          <p:cNvSpPr/>
          <p:nvPr/>
        </p:nvSpPr>
        <p:spPr>
          <a:xfrm>
            <a:off x="6206400" y="1376640"/>
            <a:ext cx="2697840" cy="4996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135" name="Rectangle: Rounded Corners 22"/>
          <p:cNvSpPr/>
          <p:nvPr/>
        </p:nvSpPr>
        <p:spPr>
          <a:xfrm>
            <a:off x="9100800" y="1376640"/>
            <a:ext cx="2697840" cy="4996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136" name="Text Placeholder 4"/>
          <p:cNvSpPr/>
          <p:nvPr/>
        </p:nvSpPr>
        <p:spPr>
          <a:xfrm>
            <a:off x="507960" y="1481400"/>
            <a:ext cx="2517840" cy="30996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62222" lnSpcReduction="10000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chemeClr val="lt2"/>
                </a:solidFill>
                <a:latin typeface="Cyntho Next SemiBold"/>
              </a:rPr>
              <a:t>Cliquez pour modifier les styles du texte du masque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Placeholder 4"/>
          <p:cNvSpPr/>
          <p:nvPr/>
        </p:nvSpPr>
        <p:spPr>
          <a:xfrm>
            <a:off x="507960" y="1983600"/>
            <a:ext cx="2517840" cy="395388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Placeholder 4"/>
          <p:cNvSpPr/>
          <p:nvPr/>
        </p:nvSpPr>
        <p:spPr>
          <a:xfrm>
            <a:off x="3433320" y="1481400"/>
            <a:ext cx="2455920" cy="30996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62222" lnSpcReduction="10000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chemeClr val="lt2"/>
                </a:solidFill>
                <a:latin typeface="Cyntho Next SemiBold"/>
              </a:rPr>
              <a:t>Cliquez pour modifier les styles du texte du masque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Placeholder 4"/>
          <p:cNvSpPr/>
          <p:nvPr/>
        </p:nvSpPr>
        <p:spPr>
          <a:xfrm>
            <a:off x="3402000" y="1983600"/>
            <a:ext cx="2517840" cy="395388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Placeholder 4"/>
          <p:cNvSpPr/>
          <p:nvPr/>
        </p:nvSpPr>
        <p:spPr>
          <a:xfrm>
            <a:off x="6296400" y="1481400"/>
            <a:ext cx="2517840" cy="30996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62222" lnSpcReduction="10000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chemeClr val="lt2"/>
                </a:solidFill>
                <a:latin typeface="Cyntho Next SemiBold"/>
              </a:rPr>
              <a:t>Cliquez pour modifier les styles du texte du masque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Placeholder 4"/>
          <p:cNvSpPr/>
          <p:nvPr/>
        </p:nvSpPr>
        <p:spPr>
          <a:xfrm>
            <a:off x="6296400" y="1983600"/>
            <a:ext cx="2517840" cy="395388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Placeholder 4"/>
          <p:cNvSpPr/>
          <p:nvPr/>
        </p:nvSpPr>
        <p:spPr>
          <a:xfrm>
            <a:off x="9190800" y="1481400"/>
            <a:ext cx="2517840" cy="30996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62222" lnSpcReduction="10000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chemeClr val="lt2"/>
                </a:solidFill>
                <a:latin typeface="Cyntho Next SemiBold"/>
              </a:rPr>
              <a:t>Cliquez pour modifier les styles du texte du masque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Placeholder 4"/>
          <p:cNvSpPr/>
          <p:nvPr/>
        </p:nvSpPr>
        <p:spPr>
          <a:xfrm>
            <a:off x="9190800" y="1983600"/>
            <a:ext cx="2517840" cy="395388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4" name="Graphique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2320" cy="4604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4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lide Number Placeholder 10"/>
          <p:cNvSpPr/>
          <p:nvPr/>
        </p:nvSpPr>
        <p:spPr>
          <a:xfrm>
            <a:off x="11429280" y="6298560"/>
            <a:ext cx="455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6B6CADBC-CF67-4924-9C82-0FEFF87CF473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Rectangle: Rounded Corners 23"/>
          <p:cNvSpPr/>
          <p:nvPr/>
        </p:nvSpPr>
        <p:spPr>
          <a:xfrm>
            <a:off x="417960" y="1376280"/>
            <a:ext cx="3597840" cy="4552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nl-NL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147" name="Rectangle: Rounded Corners 24"/>
          <p:cNvSpPr/>
          <p:nvPr/>
        </p:nvSpPr>
        <p:spPr>
          <a:xfrm>
            <a:off x="4318200" y="1376280"/>
            <a:ext cx="3597840" cy="455256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nl-NL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148" name="Rectangle: Rounded Corners 25"/>
          <p:cNvSpPr/>
          <p:nvPr/>
        </p:nvSpPr>
        <p:spPr>
          <a:xfrm>
            <a:off x="8218440" y="1376280"/>
            <a:ext cx="3597840" cy="455256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nl-NL" sz="1800" spc="-1" strike="noStrike">
              <a:solidFill>
                <a:srgbClr val="2d2d2d"/>
              </a:solidFill>
              <a:latin typeface="Cyntho Next"/>
            </a:endParaRPr>
          </a:p>
        </p:txBody>
      </p:sp>
      <p:sp>
        <p:nvSpPr>
          <p:cNvPr id="149" name="Text Placeholder 20"/>
          <p:cNvSpPr/>
          <p:nvPr/>
        </p:nvSpPr>
        <p:spPr>
          <a:xfrm>
            <a:off x="499320" y="1479240"/>
            <a:ext cx="3434760" cy="35028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68333" lnSpcReduction="10000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600" spc="-1" strike="noStrike">
                <a:solidFill>
                  <a:schemeClr val="lt1"/>
                </a:solidFill>
                <a:latin typeface="Cyntho Next SemiBold"/>
              </a:rPr>
              <a:t>Cliquez pour modifier les styles du texte du masque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Placeholder 20"/>
          <p:cNvSpPr/>
          <p:nvPr/>
        </p:nvSpPr>
        <p:spPr>
          <a:xfrm>
            <a:off x="4399560" y="1479240"/>
            <a:ext cx="3434760" cy="35028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68333" lnSpcReduction="10000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600" spc="-1" strike="noStrike">
                <a:solidFill>
                  <a:schemeClr val="lt2"/>
                </a:solidFill>
                <a:latin typeface="Cyntho Next SemiBold"/>
              </a:rPr>
              <a:t>Cliquez pour modifier les styles du texte du masque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Placeholder 20"/>
          <p:cNvSpPr/>
          <p:nvPr/>
        </p:nvSpPr>
        <p:spPr>
          <a:xfrm>
            <a:off x="8302680" y="1479240"/>
            <a:ext cx="3434760" cy="35028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68333" lnSpcReduction="10000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600" spc="-1" strike="noStrike">
                <a:solidFill>
                  <a:srgbClr val="2d2d2d"/>
                </a:solidFill>
                <a:latin typeface="Cyntho Next SemiBold"/>
              </a:rPr>
              <a:t>Cliquez pour modifier les styles du texte du masque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Placeholder 20"/>
          <p:cNvSpPr/>
          <p:nvPr/>
        </p:nvSpPr>
        <p:spPr>
          <a:xfrm>
            <a:off x="499320" y="1973880"/>
            <a:ext cx="3434760" cy="388548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chemeClr val="lt1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Placeholder 20"/>
          <p:cNvSpPr/>
          <p:nvPr/>
        </p:nvSpPr>
        <p:spPr>
          <a:xfrm>
            <a:off x="4399560" y="1973880"/>
            <a:ext cx="3434760" cy="388548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chemeClr val="lt2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Placeholder 20"/>
          <p:cNvSpPr/>
          <p:nvPr/>
        </p:nvSpPr>
        <p:spPr>
          <a:xfrm>
            <a:off x="8299800" y="1973880"/>
            <a:ext cx="3434760" cy="388548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chemeClr val="dk1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5" name="Graphique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2320" cy="4604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4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lide Number Placeholder 10"/>
          <p:cNvSpPr/>
          <p:nvPr/>
        </p:nvSpPr>
        <p:spPr>
          <a:xfrm>
            <a:off x="11429280" y="6298560"/>
            <a:ext cx="455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CB0965F2-9084-46BB-9C84-EF3C97400821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Rectangle: Rounded Corners 19"/>
          <p:cNvSpPr/>
          <p:nvPr/>
        </p:nvSpPr>
        <p:spPr>
          <a:xfrm>
            <a:off x="413640" y="1414800"/>
            <a:ext cx="9351720" cy="1797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nl-NL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158" name="Text Placeholder 20"/>
          <p:cNvSpPr/>
          <p:nvPr/>
        </p:nvSpPr>
        <p:spPr>
          <a:xfrm>
            <a:off x="507600" y="1509840"/>
            <a:ext cx="9186120" cy="163944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chemeClr val="lt2"/>
                </a:solidFill>
                <a:latin typeface="Cyntho Next Bold"/>
              </a:rPr>
              <a:t>Cliquez pour modifier les styles du texte du masque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Placeholder 20"/>
          <p:cNvSpPr/>
          <p:nvPr/>
        </p:nvSpPr>
        <p:spPr>
          <a:xfrm>
            <a:off x="507600" y="3429000"/>
            <a:ext cx="9186120" cy="242424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yntho Next"/>
              </a:rPr>
              <a:t>Cliquez pour modifier les styles du texte du masque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0" name="Graphique 3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2320" cy="4604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709" r:id="rId4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l="-1991" r="-1991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lide Number Placeholder 10"/>
          <p:cNvSpPr/>
          <p:nvPr/>
        </p:nvSpPr>
        <p:spPr>
          <a:xfrm>
            <a:off x="11429280" y="6298560"/>
            <a:ext cx="455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351C5E0D-470A-45CD-91EA-98D9ADDD7995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2" name="Graphique 4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021640" y="328680"/>
            <a:ext cx="2146680" cy="15170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711" r:id="rId5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lide Number Placeholder 10"/>
          <p:cNvSpPr/>
          <p:nvPr/>
        </p:nvSpPr>
        <p:spPr>
          <a:xfrm>
            <a:off x="11429280" y="6298560"/>
            <a:ext cx="455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5E8D4C50-C11F-4350-A8E2-003E3FDBB535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4" name="Graphique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2320" cy="4604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713" r:id="rId4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l="-2992" r="-2992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lide Number Placeholder 10" hidden="1"/>
          <p:cNvSpPr/>
          <p:nvPr/>
        </p:nvSpPr>
        <p:spPr>
          <a:xfrm>
            <a:off x="11429280" y="6298560"/>
            <a:ext cx="455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2130017D-0E2C-4896-890E-012A2BF4EC8C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6" name="Graphique 4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021640" y="328680"/>
            <a:ext cx="2146680" cy="1517040"/>
          </a:xfrm>
          <a:prstGeom prst="rect">
            <a:avLst/>
          </a:prstGeom>
          <a:ln w="0">
            <a:noFill/>
          </a:ln>
        </p:spPr>
      </p:pic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ffffff"/>
                </a:solidFill>
                <a:latin typeface="Arial"/>
              </a:rPr>
              <a:t>Cliquez pour éditer le format du texte-titre</a:t>
            </a:r>
            <a:endParaRPr b="0" lang="fr-F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ffffff"/>
                </a:solidFill>
                <a:latin typeface="Arial"/>
              </a:rPr>
              <a:t>Cliquez pour éditer le format du plan de texte</a:t>
            </a:r>
            <a:endParaRPr b="0" lang="fr-FR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ffffff"/>
                </a:solidFill>
                <a:latin typeface="Arial"/>
              </a:rPr>
              <a:t>Second niveau de plan</a:t>
            </a:r>
            <a:endParaRPr b="0" lang="fr-FR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ffffff"/>
                </a:solidFill>
                <a:latin typeface="Arial"/>
              </a:rPr>
              <a:t>Troisième niveau de plan</a:t>
            </a:r>
            <a:endParaRPr b="0" lang="fr-FR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ffffff"/>
                </a:solidFill>
                <a:latin typeface="Arial"/>
              </a:rPr>
              <a:t>Quatrième niveau de plan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ffffff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ffffff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ffffff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5" r:id="rId5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lide Number Placeholder 10"/>
          <p:cNvSpPr/>
          <p:nvPr/>
        </p:nvSpPr>
        <p:spPr>
          <a:xfrm>
            <a:off x="11429280" y="6298560"/>
            <a:ext cx="455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134A505E-C361-450D-B953-34D14AA7AE5E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Rectangle: Rounded Corners 28"/>
          <p:cNvSpPr/>
          <p:nvPr/>
        </p:nvSpPr>
        <p:spPr>
          <a:xfrm>
            <a:off x="780840" y="1640880"/>
            <a:ext cx="7989120" cy="3019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171" name="TextBox 29"/>
          <p:cNvSpPr/>
          <p:nvPr/>
        </p:nvSpPr>
        <p:spPr>
          <a:xfrm>
            <a:off x="875520" y="1601280"/>
            <a:ext cx="650880" cy="149652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i="1" lang="en-NL" sz="8800" spc="-1" strike="noStrike">
                <a:solidFill>
                  <a:srgbClr val="2d2d2d"/>
                </a:solidFill>
                <a:latin typeface="Montserrat SemiBold"/>
              </a:rPr>
              <a:t>“</a:t>
            </a:r>
            <a:endParaRPr b="0" lang="fr-FR" sz="8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Box 30"/>
          <p:cNvSpPr/>
          <p:nvPr/>
        </p:nvSpPr>
        <p:spPr>
          <a:xfrm>
            <a:off x="7953120" y="3770280"/>
            <a:ext cx="650880" cy="149652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i="1" lang="en-NL" sz="8800" spc="-1" strike="noStrike">
                <a:solidFill>
                  <a:srgbClr val="2d2d2d"/>
                </a:solidFill>
                <a:latin typeface="Montserrat SemiBold"/>
              </a:rPr>
              <a:t>”</a:t>
            </a:r>
            <a:endParaRPr b="0" lang="fr-FR" sz="8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Placeholder 4"/>
          <p:cNvSpPr/>
          <p:nvPr/>
        </p:nvSpPr>
        <p:spPr>
          <a:xfrm>
            <a:off x="1807920" y="1881000"/>
            <a:ext cx="5934960" cy="253908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fr-FR" sz="1800" spc="-1" strike="noStrike">
                <a:solidFill>
                  <a:schemeClr val="lt2"/>
                </a:solidFill>
                <a:latin typeface="Cyntho Next SemiBold"/>
              </a:rPr>
              <a:t>Cliquez pour modifier les styles du texte du masque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4" name="Graphique 3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2320" cy="4604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717" r:id="rId4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l="-1991" r="-1991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lide Number Placeholder 10" hidden="1"/>
          <p:cNvSpPr/>
          <p:nvPr/>
        </p:nvSpPr>
        <p:spPr>
          <a:xfrm>
            <a:off x="11429280" y="6298560"/>
            <a:ext cx="455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34606701-E86D-422C-A758-CDD454F38576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6" name="Graphique 4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11400" y="6194880"/>
            <a:ext cx="652320" cy="4604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719" r:id="rId5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l="-2992" r="-2992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lide Number Placeholder 10" hidden="1"/>
          <p:cNvSpPr/>
          <p:nvPr/>
        </p:nvSpPr>
        <p:spPr>
          <a:xfrm>
            <a:off x="11429280" y="6298560"/>
            <a:ext cx="455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D5A8EEE1-046A-415D-8949-1E60CF030615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8" name="Graphique 3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11400" y="6194880"/>
            <a:ext cx="652320" cy="4604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721" r:id="rId5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l="-2992" r="-2992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lide Number Placeholder 10" hidden="1"/>
          <p:cNvSpPr/>
          <p:nvPr/>
        </p:nvSpPr>
        <p:spPr>
          <a:xfrm>
            <a:off x="11429280" y="6298560"/>
            <a:ext cx="455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5CB44F8E-F655-450A-B6A6-004DFE2F10F5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0" name="Graphique 2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77840" y="810360"/>
            <a:ext cx="2146680" cy="15170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723" r:id="rId5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 l="-1991" r="-1991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lide Number Placeholder 10" hidden="1"/>
          <p:cNvSpPr/>
          <p:nvPr/>
        </p:nvSpPr>
        <p:spPr>
          <a:xfrm>
            <a:off x="11429280" y="6298560"/>
            <a:ext cx="455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7D48AB87-EE19-4A20-9567-8AA13110B946}" type="slidenum">
              <a:rPr b="0" lang="en-IN" sz="1200" spc="-1" strike="noStrike">
                <a:solidFill>
                  <a:schemeClr val="accent5"/>
                </a:solidFill>
                <a:latin typeface="Cyntho Next SemiBold"/>
                <a:ea typeface="Verdan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Box 3"/>
          <p:cNvSpPr/>
          <p:nvPr/>
        </p:nvSpPr>
        <p:spPr>
          <a:xfrm>
            <a:off x="914760" y="6206760"/>
            <a:ext cx="374904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700" spc="-1" strike="noStrike">
                <a:solidFill>
                  <a:srgbClr val="000000"/>
                </a:solidFill>
                <a:latin typeface="Cyntho Next"/>
                <a:ea typeface="Verdana"/>
              </a:rPr>
              <a:t>Confidential information owned by NukkAI, to be used by the recipient only. This document, or any part of it, may not be reproduced, copied, circulated and/or distributed nor quoted without prior written approval from NukkAI.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3" name="Graphique 4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11400" y="6194880"/>
            <a:ext cx="652320" cy="4604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725" r:id="rId5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lide Number Placeholder 10"/>
          <p:cNvSpPr/>
          <p:nvPr/>
        </p:nvSpPr>
        <p:spPr>
          <a:xfrm>
            <a:off x="11429280" y="6298560"/>
            <a:ext cx="455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0692068C-A443-48A8-9746-55BAFC4EB52A}" type="slidenum">
              <a:rPr b="0" lang="en-IN" sz="1200" spc="-1" strike="noStrike">
                <a:solidFill>
                  <a:schemeClr val="accent5"/>
                </a:solidFill>
                <a:latin typeface="Cyntho Next SemiBold Italic"/>
                <a:ea typeface="Verdana"/>
              </a:rPr>
              <a:t>&lt;numéro&gt;</a:t>
            </a:fld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5" name="Graphique 5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2320" cy="460440"/>
          </a:xfrm>
          <a:prstGeom prst="rect">
            <a:avLst/>
          </a:prstGeom>
          <a:ln w="0">
            <a:noFill/>
          </a:ln>
        </p:spPr>
      </p:pic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ffffff"/>
                </a:solidFill>
                <a:latin typeface="Arial"/>
              </a:rPr>
              <a:t>Cliquez pour éditer le format du texte-titre</a:t>
            </a:r>
            <a:endParaRPr b="0" lang="fr-F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ffffff"/>
                </a:solidFill>
                <a:latin typeface="Arial"/>
              </a:rPr>
              <a:t>Cliquez pour éditer le format du plan de texte</a:t>
            </a:r>
            <a:endParaRPr b="0" lang="fr-FR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ffffff"/>
                </a:solidFill>
                <a:latin typeface="Arial"/>
              </a:rPr>
              <a:t>Second niveau de plan</a:t>
            </a:r>
            <a:endParaRPr b="0" lang="fr-FR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ffffff"/>
                </a:solidFill>
                <a:latin typeface="Arial"/>
              </a:rPr>
              <a:t>Troisième niveau de plan</a:t>
            </a:r>
            <a:endParaRPr b="0" lang="fr-FR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ffffff"/>
                </a:solidFill>
                <a:latin typeface="Arial"/>
              </a:rPr>
              <a:t>Quatrième niveau de plan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ffffff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ffffff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ffffff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4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lide Number Placeholder 10"/>
          <p:cNvSpPr/>
          <p:nvPr/>
        </p:nvSpPr>
        <p:spPr>
          <a:xfrm>
            <a:off x="11429280" y="6298560"/>
            <a:ext cx="455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fld id="{44C00CED-8CC3-41F9-B62A-FC1D0B0C8E48}" type="slidenum">
              <a:rPr b="0" lang="en-IN" sz="1200" spc="-1" strike="noStrike">
                <a:solidFill>
                  <a:schemeClr val="accent5"/>
                </a:solidFill>
                <a:latin typeface="Cyntho Next SemiBold Italic"/>
                <a:ea typeface="Verdana"/>
              </a:rPr>
              <a:t>&lt;numéro&gt;</a:t>
            </a:fld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9" name="Graphique 5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1400" y="6194880"/>
            <a:ext cx="652320" cy="460440"/>
          </a:xfrm>
          <a:prstGeom prst="rect">
            <a:avLst/>
          </a:prstGeom>
          <a:ln w="0">
            <a:noFill/>
          </a:ln>
        </p:spPr>
      </p:pic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ffffff"/>
                </a:solidFill>
                <a:latin typeface="Arial"/>
              </a:rPr>
              <a:t>Cliquez pour éditer le format du texte-titre</a:t>
            </a:r>
            <a:endParaRPr b="0" lang="fr-F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ffffff"/>
                </a:solidFill>
                <a:latin typeface="Arial"/>
              </a:rPr>
              <a:t>Cliquez pour éditer le format du plan de texte</a:t>
            </a:r>
            <a:endParaRPr b="0" lang="fr-FR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ffffff"/>
                </a:solidFill>
                <a:latin typeface="Arial"/>
              </a:rPr>
              <a:t>Second niveau de plan</a:t>
            </a:r>
            <a:endParaRPr b="0" lang="fr-FR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ffffff"/>
                </a:solidFill>
                <a:latin typeface="Arial"/>
              </a:rPr>
              <a:t>Troisième niveau de plan</a:t>
            </a:r>
            <a:endParaRPr b="0" lang="fr-FR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ffffff"/>
                </a:solidFill>
                <a:latin typeface="Arial"/>
              </a:rPr>
              <a:t>Quatrième niveau de plan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ffffff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ffffff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ffffff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9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4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4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4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4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4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4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4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1080000" y="3240000"/>
            <a:ext cx="10354320" cy="113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b" anchorCtr="1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000" spc="-1" strike="noStrike">
                <a:solidFill>
                  <a:schemeClr val="lt2"/>
                </a:solidFill>
                <a:latin typeface="Cyntho Next SemiBold"/>
              </a:rPr>
              <a:t>Une IA agentique pour </a:t>
            </a:r>
            <a:br>
              <a:rPr sz="4000"/>
            </a:br>
            <a:r>
              <a:rPr b="0" lang="fr-FR" sz="4000" spc="-1" strike="noStrike">
                <a:solidFill>
                  <a:schemeClr val="lt2"/>
                </a:solidFill>
                <a:latin typeface="Cyntho Next SemiBold"/>
              </a:rPr>
              <a:t>détecter/analyser/créer </a:t>
            </a:r>
            <a:br>
              <a:rPr sz="4000"/>
            </a:br>
            <a:r>
              <a:rPr b="0" lang="fr-FR" sz="4000" spc="-1" strike="noStrike">
                <a:solidFill>
                  <a:schemeClr val="lt2"/>
                </a:solidFill>
                <a:latin typeface="Cyntho Next SemiBold"/>
              </a:rPr>
              <a:t>des connaissances sémantiques</a:t>
            </a:r>
            <a:endParaRPr b="0" lang="fr-FR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1073520" y="5676120"/>
            <a:ext cx="10084680" cy="62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 anchorCtr="1">
            <a:noAutofit/>
          </a:bodyPr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chemeClr val="lt1"/>
                </a:solidFill>
                <a:latin typeface="Cyntho Next Medium"/>
                <a:ea typeface="Verdana"/>
              </a:rPr>
              <a:t>Véronique VENTOS, Nathanael FIJALKOW, Colin DEHEEGER, Ella DIJKSMAN, Dominique BOUTHINON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8"/>
          <p:cNvSpPr/>
          <p:nvPr/>
        </p:nvSpPr>
        <p:spPr>
          <a:xfrm>
            <a:off x="900000" y="2946240"/>
            <a:ext cx="10354320" cy="11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b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3200" spc="-1" strike="noStrike">
                <a:solidFill>
                  <a:srgbClr val="ffffff"/>
                </a:solidFill>
                <a:latin typeface="Cyntho Next SemiBold"/>
              </a:rPr>
              <a:t>Kimind  testbed pour </a:t>
            </a:r>
            <a:br>
              <a:rPr sz="3200"/>
            </a:br>
            <a:r>
              <a:rPr b="0" lang="fr-FR" sz="3200" spc="-1" strike="noStrike">
                <a:solidFill>
                  <a:srgbClr val="ffffff"/>
                </a:solidFill>
                <a:latin typeface="Cyntho Next SemiBold"/>
              </a:rPr>
              <a:t>développer et évaluer </a:t>
            </a:r>
            <a:endParaRPr b="0" lang="fr-FR" sz="3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3200" spc="-1" strike="noStrike">
                <a:solidFill>
                  <a:srgbClr val="ffffff"/>
                </a:solidFill>
                <a:latin typeface="Cyntho Next SemiBold"/>
              </a:rPr>
              <a:t>une de nos approches Agentic AI</a:t>
            </a:r>
            <a:endParaRPr b="0" lang="fr-FR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316800" y="443520"/>
            <a:ext cx="11481840" cy="33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3600" spc="-1" strike="noStrike">
                <a:solidFill>
                  <a:schemeClr val="lt1"/>
                </a:solidFill>
                <a:latin typeface="Cyntho Next Bold"/>
              </a:rPr>
              <a:t>Objectifs</a:t>
            </a:r>
            <a:endParaRPr b="0" lang="fr-FR" sz="3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6" name="Image 1" descr=""/>
          <p:cNvPicPr/>
          <p:nvPr/>
        </p:nvPicPr>
        <p:blipFill>
          <a:blip r:embed="rId1"/>
          <a:stretch/>
        </p:blipFill>
        <p:spPr>
          <a:xfrm>
            <a:off x="6849360" y="180000"/>
            <a:ext cx="4848840" cy="6478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3"/>
          <p:cNvSpPr/>
          <p:nvPr/>
        </p:nvSpPr>
        <p:spPr>
          <a:xfrm>
            <a:off x="900000" y="2946240"/>
            <a:ext cx="10354320" cy="11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b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3200" spc="-1" strike="noStrike">
                <a:solidFill>
                  <a:srgbClr val="ffffff"/>
                </a:solidFill>
                <a:latin typeface="Cyntho Next SemiBold"/>
              </a:rPr>
              <a:t>Kimind  le jeu (rappel)</a:t>
            </a:r>
            <a:endParaRPr b="0" lang="fr-FR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316800" y="443520"/>
            <a:ext cx="11481840" cy="33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3600" spc="-1" strike="noStrike">
                <a:solidFill>
                  <a:schemeClr val="lt1"/>
                </a:solidFill>
                <a:latin typeface="Cyntho Next Bold"/>
              </a:rPr>
              <a:t>Kimind : un jeu de réflexion et de stratégie</a:t>
            </a:r>
            <a:endParaRPr b="0" lang="fr-FR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PlaceHolder 20"/>
          <p:cNvSpPr/>
          <p:nvPr/>
        </p:nvSpPr>
        <p:spPr>
          <a:xfrm>
            <a:off x="624600" y="2700000"/>
            <a:ext cx="10354320" cy="71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b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2800" spc="-1" strike="noStrike">
                <a:solidFill>
                  <a:srgbClr val="ffffff"/>
                </a:solidFill>
                <a:latin typeface="Cyntho Next SemiBold"/>
              </a:rPr>
              <a:t>Deviner 4 cartes cachées sachant </a:t>
            </a:r>
            <a:r>
              <a:rPr b="0" lang="fr-FR" sz="3200" spc="-1" strike="noStrike">
                <a:solidFill>
                  <a:srgbClr val="ffffff"/>
                </a:solidFill>
                <a:latin typeface="Cyntho Next SemiBold"/>
              </a:rPr>
              <a:t>:</a:t>
            </a:r>
            <a:br>
              <a:rPr sz="3200"/>
            </a:br>
            <a:br>
              <a:rPr sz="3200"/>
            </a:br>
            <a:br>
              <a:rPr sz="3200"/>
            </a:br>
            <a:r>
              <a:rPr b="0" lang="fr-FR" sz="3200" spc="-1" strike="noStrike">
                <a:solidFill>
                  <a:srgbClr val="ffffff"/>
                </a:solidFill>
                <a:latin typeface="Cyntho Next SemiBold"/>
              </a:rPr>
              <a:t> </a:t>
            </a:r>
            <a:endParaRPr b="0" lang="fr-FR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1260000" y="2340000"/>
            <a:ext cx="9913320" cy="19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ffffff"/>
                </a:solidFill>
                <a:latin typeface="Cyntho Next SemiBold"/>
              </a:rPr>
              <a:t>chaque carte a une couleur (blue, green, red, yellow) et une valeur (de 1 à 10)</a:t>
            </a:r>
            <a:endParaRPr b="0" lang="fr-FR" sz="2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ffffff"/>
                </a:solidFill>
                <a:latin typeface="Cyntho Next SemiBold"/>
              </a:rPr>
              <a:t>La somme des valeurs des cartes est connue</a:t>
            </a:r>
            <a:endParaRPr b="0" lang="fr-FR" sz="2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ffffff"/>
                </a:solidFill>
                <a:latin typeface="Cyntho Next SemiBold"/>
              </a:rPr>
              <a:t>Les cartes ont des couleurs différentes</a:t>
            </a:r>
            <a:endParaRPr b="0" lang="fr-FR" sz="2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ffffff"/>
                </a:solidFill>
                <a:latin typeface="Cyntho Next SemiBold"/>
              </a:rPr>
              <a:t>Les valeurs des cartes sont ordonnées en fonction des couleurs</a:t>
            </a:r>
            <a:endParaRPr b="0" lang="fr-FR" sz="2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1" name="" descr=""/>
          <p:cNvPicPr/>
          <p:nvPr/>
        </p:nvPicPr>
        <p:blipFill>
          <a:blip r:embed="rId1"/>
          <a:stretch/>
        </p:blipFill>
        <p:spPr>
          <a:xfrm>
            <a:off x="3420000" y="5040000"/>
            <a:ext cx="4992480" cy="107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316800" y="443520"/>
            <a:ext cx="11481840" cy="33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3600" spc="-1" strike="noStrike">
                <a:solidFill>
                  <a:schemeClr val="lt1"/>
                </a:solidFill>
                <a:latin typeface="Cyntho Next Bold"/>
              </a:rPr>
              <a:t>Tour de jeu</a:t>
            </a:r>
            <a:endParaRPr b="0" lang="fr-FR" sz="3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3" name="" descr=""/>
          <p:cNvPicPr/>
          <p:nvPr/>
        </p:nvPicPr>
        <p:blipFill>
          <a:blip r:embed="rId1"/>
          <a:stretch/>
        </p:blipFill>
        <p:spPr>
          <a:xfrm>
            <a:off x="4554000" y="1260000"/>
            <a:ext cx="4084920" cy="1618920"/>
          </a:xfrm>
          <a:prstGeom prst="rect">
            <a:avLst/>
          </a:prstGeom>
          <a:ln w="0">
            <a:noFill/>
          </a:ln>
        </p:spPr>
      </p:pic>
      <p:pic>
        <p:nvPicPr>
          <p:cNvPr id="204" name="" descr=""/>
          <p:cNvPicPr/>
          <p:nvPr/>
        </p:nvPicPr>
        <p:blipFill>
          <a:blip r:embed="rId2"/>
          <a:stretch/>
        </p:blipFill>
        <p:spPr>
          <a:xfrm>
            <a:off x="4525560" y="3240000"/>
            <a:ext cx="4113360" cy="1618920"/>
          </a:xfrm>
          <a:prstGeom prst="rect">
            <a:avLst/>
          </a:prstGeom>
          <a:ln w="0">
            <a:noFill/>
          </a:ln>
        </p:spPr>
      </p:pic>
      <p:sp>
        <p:nvSpPr>
          <p:cNvPr id="205" name=""/>
          <p:cNvSpPr/>
          <p:nvPr/>
        </p:nvSpPr>
        <p:spPr>
          <a:xfrm>
            <a:off x="718560" y="1653120"/>
            <a:ext cx="32403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2400" spc="-1" strike="noStrike">
                <a:solidFill>
                  <a:srgbClr val="ffffff"/>
                </a:solidFill>
                <a:latin typeface="Cyntho Next SemiBold"/>
              </a:rPr>
              <a:t>cartes proposées</a:t>
            </a:r>
            <a:endParaRPr b="0" lang="fr-F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718560" y="4140000"/>
            <a:ext cx="32403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2400" spc="-1" strike="noStrike">
                <a:solidFill>
                  <a:srgbClr val="ffffff"/>
                </a:solidFill>
                <a:latin typeface="Cyntho Next SemiBold"/>
              </a:rPr>
              <a:t>réponse du système</a:t>
            </a:r>
            <a:endParaRPr b="0" lang="fr-F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2698560" y="5519160"/>
            <a:ext cx="86403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fr-FR" sz="2400" spc="-1" strike="noStrike">
                <a:solidFill>
                  <a:srgbClr val="ffffff"/>
                </a:solidFill>
                <a:latin typeface="Cyntho Next SemiBold"/>
              </a:rPr>
              <a:t>Le joueur raisonne à partir des réponses du système</a:t>
            </a:r>
            <a:endParaRPr b="0" lang="fr-FR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1080000" y="2880000"/>
            <a:ext cx="10354320" cy="113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b" anchorCtr="1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000" spc="-1" strike="noStrike">
                <a:solidFill>
                  <a:srgbClr val="ffffff"/>
                </a:solidFill>
                <a:latin typeface="Cyntho Next SemiBold"/>
              </a:rPr>
              <a:t>Architecture agentique</a:t>
            </a:r>
            <a:endParaRPr b="0" lang="fr-FR" sz="4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316800" y="443520"/>
            <a:ext cx="11481480" cy="63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3600" spc="-1" strike="noStrike">
                <a:solidFill>
                  <a:schemeClr val="lt1"/>
                </a:solidFill>
                <a:latin typeface="Cyntho Next Bold"/>
              </a:rPr>
              <a:t>Une coopération cyclique d’agents (dont l’humain)</a:t>
            </a:r>
            <a:endParaRPr b="0" lang="fr-FR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Ellipse 17"/>
          <p:cNvSpPr/>
          <p:nvPr/>
        </p:nvSpPr>
        <p:spPr>
          <a:xfrm>
            <a:off x="1315440" y="3542400"/>
            <a:ext cx="1865520" cy="77184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6360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lt1"/>
                </a:solidFill>
                <a:latin typeface="Cyntho Next"/>
              </a:rPr>
              <a:t>BK joueur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Rectangle : coins arrondis 10"/>
          <p:cNvSpPr/>
          <p:nvPr/>
        </p:nvSpPr>
        <p:spPr>
          <a:xfrm>
            <a:off x="940680" y="2561040"/>
            <a:ext cx="2703600" cy="458640"/>
          </a:xfrm>
          <a:prstGeom prst="roundRect">
            <a:avLst>
              <a:gd name="adj" fmla="val 16667"/>
            </a:avLst>
          </a:prstGeom>
          <a:solidFill>
            <a:schemeClr val="accent4">
              <a:lumMod val="50000"/>
            </a:schemeClr>
          </a:solidFill>
          <a:ln>
            <a:solidFill>
              <a:srgbClr val="100c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lt1"/>
                </a:solidFill>
                <a:latin typeface="Cyntho Next"/>
              </a:rPr>
              <a:t>Analyse jeu 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Rectangle : coins arrondis 14"/>
          <p:cNvSpPr/>
          <p:nvPr/>
        </p:nvSpPr>
        <p:spPr>
          <a:xfrm>
            <a:off x="9357120" y="2988720"/>
            <a:ext cx="2516760" cy="634320"/>
          </a:xfrm>
          <a:prstGeom prst="roundRect">
            <a:avLst>
              <a:gd name="adj" fmla="val 16667"/>
            </a:avLst>
          </a:prstGeom>
          <a:solidFill>
            <a:schemeClr val="accent4">
              <a:lumMod val="50000"/>
            </a:schemeClr>
          </a:solidFill>
          <a:ln>
            <a:solidFill>
              <a:srgbClr val="100c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lt1"/>
                </a:solidFill>
                <a:latin typeface="Cyntho Next"/>
              </a:rPr>
              <a:t>Analyse énoncé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Ellipse 22"/>
          <p:cNvSpPr/>
          <p:nvPr/>
        </p:nvSpPr>
        <p:spPr>
          <a:xfrm>
            <a:off x="6884640" y="3023280"/>
            <a:ext cx="1865520" cy="77184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6360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FR" sz="1600" spc="-1" strike="noStrike">
                <a:solidFill>
                  <a:schemeClr val="lt1"/>
                </a:solidFill>
                <a:latin typeface="Cyntho Next"/>
              </a:rPr>
              <a:t>BK_enonce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fr-FR" sz="1600" spc="-1" strike="noStrike">
                <a:solidFill>
                  <a:schemeClr val="lt1"/>
                </a:solidFill>
                <a:latin typeface="Cyntho Next"/>
              </a:rPr>
              <a:t>(difficulté, stratégie)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Rectangle : coins arrondis 15"/>
          <p:cNvSpPr/>
          <p:nvPr/>
        </p:nvSpPr>
        <p:spPr>
          <a:xfrm>
            <a:off x="5058720" y="5014440"/>
            <a:ext cx="2703600" cy="782280"/>
          </a:xfrm>
          <a:prstGeom prst="roundRect">
            <a:avLst>
              <a:gd name="adj" fmla="val 16667"/>
            </a:avLst>
          </a:prstGeom>
          <a:solidFill>
            <a:schemeClr val="accent4">
              <a:lumMod val="50000"/>
            </a:schemeClr>
          </a:solidFill>
          <a:ln>
            <a:solidFill>
              <a:srgbClr val="100c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lt1"/>
                </a:solidFill>
                <a:latin typeface="Cyntho Next"/>
              </a:rPr>
              <a:t> </a:t>
            </a:r>
            <a:r>
              <a:rPr b="0" lang="fr-FR" sz="1800" spc="-1" strike="noStrike">
                <a:solidFill>
                  <a:schemeClr val="lt1"/>
                </a:solidFill>
                <a:latin typeface="Cyntho Next"/>
              </a:rPr>
              <a:t>Qualifie difficulté énoncé relativement au joueur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Flèche : bas 25"/>
          <p:cNvSpPr/>
          <p:nvPr/>
        </p:nvSpPr>
        <p:spPr>
          <a:xfrm>
            <a:off x="2131560" y="2058120"/>
            <a:ext cx="233280" cy="41148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1c1b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216" name="Ellipse 23"/>
          <p:cNvSpPr/>
          <p:nvPr/>
        </p:nvSpPr>
        <p:spPr>
          <a:xfrm>
            <a:off x="9673200" y="1490040"/>
            <a:ext cx="1865520" cy="77184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6360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lt1"/>
                </a:solidFill>
                <a:latin typeface="Cyntho Next"/>
              </a:rPr>
              <a:t>Énoncé Kimind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Ellipse 24"/>
          <p:cNvSpPr/>
          <p:nvPr/>
        </p:nvSpPr>
        <p:spPr>
          <a:xfrm>
            <a:off x="1080000" y="1189800"/>
            <a:ext cx="2410920" cy="77184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6360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lt1"/>
                </a:solidFill>
                <a:latin typeface="Cyntho Next"/>
              </a:rPr>
              <a:t>Parties jouées d’un joueur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Flèche : bas 28"/>
          <p:cNvSpPr/>
          <p:nvPr/>
        </p:nvSpPr>
        <p:spPr>
          <a:xfrm>
            <a:off x="10464840" y="2413440"/>
            <a:ext cx="233280" cy="41148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1c1b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219" name="Flèche : bas 37"/>
          <p:cNvSpPr/>
          <p:nvPr/>
        </p:nvSpPr>
        <p:spPr>
          <a:xfrm rot="5400000">
            <a:off x="8908200" y="3062160"/>
            <a:ext cx="196920" cy="4874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1c1b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Cyntho Next"/>
            </a:endParaRPr>
          </a:p>
        </p:txBody>
      </p:sp>
      <p:pic>
        <p:nvPicPr>
          <p:cNvPr id="220" name="Image 5" descr=""/>
          <p:cNvPicPr/>
          <p:nvPr/>
        </p:nvPicPr>
        <p:blipFill>
          <a:blip r:embed="rId1"/>
          <a:stretch/>
        </p:blipFill>
        <p:spPr>
          <a:xfrm>
            <a:off x="4632840" y="1713240"/>
            <a:ext cx="1297440" cy="905400"/>
          </a:xfrm>
          <a:prstGeom prst="rect">
            <a:avLst/>
          </a:prstGeom>
          <a:ln w="0">
            <a:noFill/>
          </a:ln>
        </p:spPr>
      </p:pic>
      <p:sp>
        <p:nvSpPr>
          <p:cNvPr id="221" name="Flèche : bas 41"/>
          <p:cNvSpPr/>
          <p:nvPr/>
        </p:nvSpPr>
        <p:spPr>
          <a:xfrm>
            <a:off x="2131560" y="3067200"/>
            <a:ext cx="233280" cy="41148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1c1b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222" name="Flèche : bas 42"/>
          <p:cNvSpPr/>
          <p:nvPr/>
        </p:nvSpPr>
        <p:spPr>
          <a:xfrm rot="3085200">
            <a:off x="3706560" y="2323800"/>
            <a:ext cx="234000" cy="17582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1c1b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223" name="Ellipse 25"/>
          <p:cNvSpPr/>
          <p:nvPr/>
        </p:nvSpPr>
        <p:spPr>
          <a:xfrm>
            <a:off x="4461120" y="3450240"/>
            <a:ext cx="2184120" cy="77184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6360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lt1"/>
                </a:solidFill>
                <a:latin typeface="Cyntho Next"/>
              </a:rPr>
              <a:t>BK 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lt1"/>
                </a:solidFill>
                <a:latin typeface="Cyntho Next"/>
              </a:rPr>
              <a:t>énoncé wrt joueur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Rectangle : coins arrondis 16"/>
          <p:cNvSpPr/>
          <p:nvPr/>
        </p:nvSpPr>
        <p:spPr>
          <a:xfrm>
            <a:off x="1411920" y="4889520"/>
            <a:ext cx="1668600" cy="468720"/>
          </a:xfrm>
          <a:prstGeom prst="roundRect">
            <a:avLst>
              <a:gd name="adj" fmla="val 16667"/>
            </a:avLst>
          </a:prstGeom>
          <a:solidFill>
            <a:schemeClr val="accent4">
              <a:lumMod val="50000"/>
            </a:schemeClr>
          </a:solidFill>
          <a:ln>
            <a:solidFill>
              <a:srgbClr val="100c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lt1"/>
                </a:solidFill>
                <a:latin typeface="Cyntho Next"/>
              </a:rPr>
              <a:t>LLM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Flèche : bas 43"/>
          <p:cNvSpPr/>
          <p:nvPr/>
        </p:nvSpPr>
        <p:spPr>
          <a:xfrm>
            <a:off x="2131560" y="4407120"/>
            <a:ext cx="233280" cy="41148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1c1b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226" name="Ellipse 26"/>
          <p:cNvSpPr/>
          <p:nvPr/>
        </p:nvSpPr>
        <p:spPr>
          <a:xfrm>
            <a:off x="1305720" y="5871240"/>
            <a:ext cx="1865520" cy="77184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6360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lt1"/>
                </a:solidFill>
                <a:latin typeface="Cyntho Next"/>
              </a:rPr>
              <a:t>BK langue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lt1"/>
                </a:solidFill>
                <a:latin typeface="Cyntho Next"/>
              </a:rPr>
              <a:t>naturelle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Flèche : bas 44"/>
          <p:cNvSpPr/>
          <p:nvPr/>
        </p:nvSpPr>
        <p:spPr>
          <a:xfrm>
            <a:off x="5433480" y="4371480"/>
            <a:ext cx="233280" cy="41148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1c1b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228" name="Flèche : bas 45"/>
          <p:cNvSpPr/>
          <p:nvPr/>
        </p:nvSpPr>
        <p:spPr>
          <a:xfrm rot="17890200">
            <a:off x="4038120" y="3633120"/>
            <a:ext cx="284040" cy="19274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1c1b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229" name="Flèche : bas 46"/>
          <p:cNvSpPr/>
          <p:nvPr/>
        </p:nvSpPr>
        <p:spPr>
          <a:xfrm rot="7131000">
            <a:off x="3853080" y="3945960"/>
            <a:ext cx="280800" cy="186156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1c1b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230" name="Flèche : bas 47"/>
          <p:cNvSpPr/>
          <p:nvPr/>
        </p:nvSpPr>
        <p:spPr>
          <a:xfrm rot="16249200">
            <a:off x="397080" y="1170360"/>
            <a:ext cx="455040" cy="7192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231" name="Flèche : bas 48"/>
          <p:cNvSpPr/>
          <p:nvPr/>
        </p:nvSpPr>
        <p:spPr>
          <a:xfrm rot="2151600">
            <a:off x="7095240" y="3906000"/>
            <a:ext cx="233280" cy="9846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1c1b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232" name="Flèche : bas 49"/>
          <p:cNvSpPr/>
          <p:nvPr/>
        </p:nvSpPr>
        <p:spPr>
          <a:xfrm>
            <a:off x="2121840" y="5407920"/>
            <a:ext cx="233280" cy="41148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1c1b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Cyntho Nex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1080000" y="2880000"/>
            <a:ext cx="10354320" cy="113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b" anchorCtr="1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000" spc="-1" strike="noStrike">
                <a:solidFill>
                  <a:srgbClr val="ffffff"/>
                </a:solidFill>
                <a:latin typeface="Cyntho Next SemiBold"/>
              </a:rPr>
              <a:t>Démonstrations</a:t>
            </a:r>
            <a:endParaRPr b="0" lang="fr-FR" sz="4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316800" y="443520"/>
            <a:ext cx="11481480" cy="63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3600" spc="-1" strike="noStrike">
                <a:solidFill>
                  <a:schemeClr val="lt1"/>
                </a:solidFill>
                <a:latin typeface="Cyntho Next Bold"/>
              </a:rPr>
              <a:t>On peut caractériser la difficulté de tout énoncé Kimind</a:t>
            </a:r>
            <a:endParaRPr b="0" lang="fr-FR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Rectangle : coins arrondis 11"/>
          <p:cNvSpPr/>
          <p:nvPr/>
        </p:nvSpPr>
        <p:spPr>
          <a:xfrm>
            <a:off x="9357120" y="2988720"/>
            <a:ext cx="2516760" cy="634320"/>
          </a:xfrm>
          <a:prstGeom prst="roundRect">
            <a:avLst>
              <a:gd name="adj" fmla="val 16667"/>
            </a:avLst>
          </a:prstGeom>
          <a:solidFill>
            <a:schemeClr val="accent4">
              <a:lumMod val="50000"/>
            </a:schemeClr>
          </a:solidFill>
          <a:ln>
            <a:solidFill>
              <a:srgbClr val="100c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lt1"/>
                </a:solidFill>
                <a:latin typeface="Cyntho Next"/>
              </a:rPr>
              <a:t>Analyse énoncé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Ellipse 18"/>
          <p:cNvSpPr/>
          <p:nvPr/>
        </p:nvSpPr>
        <p:spPr>
          <a:xfrm>
            <a:off x="6884640" y="3023280"/>
            <a:ext cx="1865520" cy="77184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6360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FR" sz="1600" spc="-1" strike="noStrike">
                <a:solidFill>
                  <a:schemeClr val="lt1"/>
                </a:solidFill>
                <a:latin typeface="Cyntho Next"/>
              </a:rPr>
              <a:t>BK_enonce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fr-FR" sz="1600" spc="-1" strike="noStrike">
                <a:solidFill>
                  <a:schemeClr val="lt1"/>
                </a:solidFill>
                <a:latin typeface="Cyntho Next"/>
              </a:rPr>
              <a:t>(difficulté, stratégie)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Ellipse 21"/>
          <p:cNvSpPr/>
          <p:nvPr/>
        </p:nvSpPr>
        <p:spPr>
          <a:xfrm>
            <a:off x="9673200" y="1490040"/>
            <a:ext cx="1865520" cy="77184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6360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lt1"/>
                </a:solidFill>
                <a:latin typeface="Cyntho Next"/>
              </a:rPr>
              <a:t>Énoncé Kimind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Flèche : bas 26"/>
          <p:cNvSpPr/>
          <p:nvPr/>
        </p:nvSpPr>
        <p:spPr>
          <a:xfrm>
            <a:off x="10464840" y="2413440"/>
            <a:ext cx="233280" cy="41148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1c1b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239" name="Flèche : bas 27"/>
          <p:cNvSpPr/>
          <p:nvPr/>
        </p:nvSpPr>
        <p:spPr>
          <a:xfrm rot="5400000">
            <a:off x="8908200" y="3062160"/>
            <a:ext cx="196920" cy="4874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1c1b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240" name=""/>
          <p:cNvSpPr/>
          <p:nvPr/>
        </p:nvSpPr>
        <p:spPr>
          <a:xfrm>
            <a:off x="1260000" y="4010040"/>
            <a:ext cx="881892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ffffff"/>
                </a:solidFill>
                <a:latin typeface="Arial"/>
              </a:rPr>
              <a:t>                         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ffffff"/>
                </a:solidFill>
                <a:latin typeface="Arial"/>
              </a:rPr>
              <a:t>        </a:t>
            </a:r>
            <a:r>
              <a:rPr b="0" lang="fr-FR" sz="1800" spc="-1" strike="noStrike">
                <a:solidFill>
                  <a:srgbClr val="ffffff"/>
                </a:solidFill>
                <a:latin typeface="Arial"/>
              </a:rPr>
              <a:t>- Sum                                : 20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ffffff"/>
                </a:solidFill>
                <a:latin typeface="Arial"/>
              </a:rPr>
              <a:t>        </a:t>
            </a:r>
            <a:r>
              <a:rPr b="0" lang="fr-FR" sz="1800" spc="-1" strike="noStrike">
                <a:solidFill>
                  <a:srgbClr val="ffffff"/>
                </a:solidFill>
                <a:latin typeface="Arial"/>
              </a:rPr>
              <a:t>- Colours order                  : yellow = red &lt; blue &lt; green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ffffff"/>
                </a:solidFill>
                <a:latin typeface="Arial"/>
              </a:rPr>
              <a:t>        </a:t>
            </a:r>
            <a:r>
              <a:rPr b="0" lang="fr-FR" sz="1800" spc="-1" strike="noStrike">
                <a:solidFill>
                  <a:srgbClr val="ffffff"/>
                </a:solidFill>
                <a:latin typeface="Arial"/>
              </a:rPr>
              <a:t>- Solution                          : [c(0,yellow,3),c(1,green,10),c(2,blue,4),c(3,red,3)]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ffffff"/>
                </a:solidFill>
                <a:latin typeface="Arial"/>
              </a:rPr>
              <a:t>        </a:t>
            </a:r>
            <a:r>
              <a:rPr b="0" lang="fr-FR" sz="1800" spc="-1" strike="noStrike">
                <a:solidFill>
                  <a:srgbClr val="ffffff"/>
                </a:solidFill>
                <a:latin typeface="Arial"/>
              </a:rPr>
              <a:t>- Instance characteristics           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ffffff"/>
                </a:solidFill>
                <a:latin typeface="Arial"/>
              </a:rPr>
              <a:t>        </a:t>
            </a:r>
            <a:r>
              <a:rPr b="0" lang="fr-FR" sz="1800" spc="-1" strike="noStrike">
                <a:solidFill>
                  <a:srgbClr val="ffffff"/>
                </a:solidFill>
                <a:latin typeface="Arial"/>
              </a:rPr>
              <a:t>- Number of possible solutions  : 168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ffffff"/>
                </a:solidFill>
                <a:latin typeface="Arial"/>
              </a:rPr>
              <a:t>        </a:t>
            </a:r>
            <a:r>
              <a:rPr b="0" lang="fr-FR" sz="1800" spc="-1" strike="noStrike">
                <a:solidFill>
                  <a:srgbClr val="ffffff"/>
                </a:solidFill>
                <a:latin typeface="Arial"/>
              </a:rPr>
              <a:t>- Difficulty                                   : very_difficult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ffffff"/>
                </a:solidFill>
                <a:latin typeface="Arial"/>
              </a:rPr>
              <a:t>        </a:t>
            </a:r>
            <a:r>
              <a:rPr b="0" lang="fr-FR" sz="1800" spc="-1" strike="noStrike">
                <a:solidFill>
                  <a:srgbClr val="ffffff"/>
                </a:solidFill>
                <a:latin typeface="Arial"/>
              </a:rPr>
              <a:t>- Value-guessing strategy          : dichotomic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ffffff"/>
                </a:solidFill>
                <a:latin typeface="Arial"/>
              </a:rPr>
              <a:t>        </a:t>
            </a:r>
            <a:r>
              <a:rPr b="0" lang="fr-FR" sz="1800" spc="-1" strike="noStrike">
                <a:solidFill>
                  <a:srgbClr val="ffffff"/>
                </a:solidFill>
                <a:latin typeface="Arial"/>
              </a:rPr>
              <a:t>- Colours order of the solution   : different 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1" name="" descr=""/>
          <p:cNvPicPr/>
          <p:nvPr/>
        </p:nvPicPr>
        <p:blipFill>
          <a:blip r:embed="rId1"/>
          <a:stretch/>
        </p:blipFill>
        <p:spPr>
          <a:xfrm>
            <a:off x="3600000" y="1260000"/>
            <a:ext cx="4761000" cy="1046160"/>
          </a:xfrm>
          <a:prstGeom prst="rect">
            <a:avLst/>
          </a:prstGeom>
          <a:ln w="0">
            <a:noFill/>
          </a:ln>
        </p:spPr>
      </p:pic>
      <p:sp>
        <p:nvSpPr>
          <p:cNvPr id="242" name=""/>
          <p:cNvSpPr/>
          <p:nvPr/>
        </p:nvSpPr>
        <p:spPr>
          <a:xfrm>
            <a:off x="8460000" y="1620000"/>
            <a:ext cx="1080000" cy="1800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 flipH="1">
            <a:off x="4320000" y="3420000"/>
            <a:ext cx="2340000" cy="7200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316800" y="443520"/>
            <a:ext cx="11481840" cy="63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3600" spc="-1" strike="noStrike">
                <a:solidFill>
                  <a:schemeClr val="lt1"/>
                </a:solidFill>
                <a:latin typeface="Cyntho Next Bold"/>
              </a:rPr>
              <a:t>1) On peut découvrir la façon de joueur d’un joueur</a:t>
            </a:r>
            <a:endParaRPr b="0" lang="fr-FR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ZoneTexte 3"/>
          <p:cNvSpPr/>
          <p:nvPr/>
        </p:nvSpPr>
        <p:spPr>
          <a:xfrm>
            <a:off x="4448880" y="1807560"/>
            <a:ext cx="202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fr-FR" sz="1800" spc="-1" strike="noStrike">
                <a:solidFill>
                  <a:srgbClr val="002060"/>
                </a:solidFill>
                <a:latin typeface="Cyntho Next"/>
              </a:rPr>
              <a:t>Parties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Ellipse 12"/>
          <p:cNvSpPr/>
          <p:nvPr/>
        </p:nvSpPr>
        <p:spPr>
          <a:xfrm>
            <a:off x="4505760" y="4512240"/>
            <a:ext cx="1809720" cy="88668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6360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lt1"/>
                </a:solidFill>
                <a:latin typeface="Cyntho Next"/>
              </a:rPr>
              <a:t>BK joueur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Rectangle : coins arrondis 9"/>
          <p:cNvSpPr/>
          <p:nvPr/>
        </p:nvSpPr>
        <p:spPr>
          <a:xfrm>
            <a:off x="4140360" y="3263760"/>
            <a:ext cx="2622600" cy="527040"/>
          </a:xfrm>
          <a:prstGeom prst="roundRect">
            <a:avLst>
              <a:gd name="adj" fmla="val 16667"/>
            </a:avLst>
          </a:prstGeom>
          <a:solidFill>
            <a:schemeClr val="accent4">
              <a:lumMod val="50000"/>
            </a:schemeClr>
          </a:solidFill>
          <a:ln>
            <a:solidFill>
              <a:srgbClr val="100c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lt1"/>
                </a:solidFill>
                <a:latin typeface="Cyntho Next"/>
              </a:rPr>
              <a:t>Analyse jeu 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Flèche : bas 29"/>
          <p:cNvSpPr/>
          <p:nvPr/>
        </p:nvSpPr>
        <p:spPr>
          <a:xfrm>
            <a:off x="5255640" y="2736360"/>
            <a:ext cx="226440" cy="4730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1c1b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249" name="Flèche : bas 30"/>
          <p:cNvSpPr/>
          <p:nvPr/>
        </p:nvSpPr>
        <p:spPr>
          <a:xfrm>
            <a:off x="5352480" y="3972240"/>
            <a:ext cx="226440" cy="4730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1c1b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250" name="Ellipse 16"/>
          <p:cNvSpPr/>
          <p:nvPr/>
        </p:nvSpPr>
        <p:spPr>
          <a:xfrm>
            <a:off x="4320360" y="1807560"/>
            <a:ext cx="2338560" cy="88668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6360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lt1"/>
                </a:solidFill>
                <a:latin typeface="Cyntho Next"/>
              </a:rPr>
              <a:t>parties jouées d’un joueur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Flèche : bas 34"/>
          <p:cNvSpPr/>
          <p:nvPr/>
        </p:nvSpPr>
        <p:spPr>
          <a:xfrm>
            <a:off x="5352840" y="3972240"/>
            <a:ext cx="226440" cy="4730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1c1b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Cyntho Nex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316800" y="443520"/>
            <a:ext cx="11481840" cy="63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3600" spc="-1" strike="noStrike">
                <a:solidFill>
                  <a:schemeClr val="lt1"/>
                </a:solidFill>
                <a:latin typeface="Cyntho Next Bold"/>
              </a:rPr>
              <a:t>2) Un humain peut ajouter des connaissances</a:t>
            </a:r>
            <a:endParaRPr b="0" lang="fr-FR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ZoneTexte 4"/>
          <p:cNvSpPr/>
          <p:nvPr/>
        </p:nvSpPr>
        <p:spPr>
          <a:xfrm>
            <a:off x="1208520" y="1075320"/>
            <a:ext cx="202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fr-FR" sz="1800" spc="-1" strike="noStrike">
                <a:solidFill>
                  <a:srgbClr val="002060"/>
                </a:solidFill>
                <a:latin typeface="Cyntho Next"/>
              </a:rPr>
              <a:t>Parties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4" name="" descr=""/>
          <p:cNvPicPr/>
          <p:nvPr/>
        </p:nvPicPr>
        <p:blipFill>
          <a:blip r:embed="rId1"/>
          <a:stretch/>
        </p:blipFill>
        <p:spPr>
          <a:xfrm>
            <a:off x="9180000" y="1479240"/>
            <a:ext cx="1258560" cy="1039680"/>
          </a:xfrm>
          <a:prstGeom prst="rect">
            <a:avLst/>
          </a:prstGeom>
          <a:ln w="0">
            <a:noFill/>
          </a:ln>
        </p:spPr>
      </p:pic>
      <p:sp>
        <p:nvSpPr>
          <p:cNvPr id="255" name="Flèche : bas 38"/>
          <p:cNvSpPr/>
          <p:nvPr/>
        </p:nvSpPr>
        <p:spPr>
          <a:xfrm rot="3061200">
            <a:off x="6501960" y="1155600"/>
            <a:ext cx="226440" cy="588528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1c1b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256" name=""/>
          <p:cNvSpPr/>
          <p:nvPr/>
        </p:nvSpPr>
        <p:spPr>
          <a:xfrm>
            <a:off x="540000" y="1800000"/>
            <a:ext cx="6838920" cy="447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ffffff"/>
                </a:solidFill>
                <a:latin typeface="Arial"/>
              </a:rPr>
              <a:t>/* ======INFORMATION ON THE PLAYER ========== */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ffffff"/>
                </a:solidFill>
                <a:latin typeface="Arial"/>
              </a:rPr>
              <a:t>name(jean).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ff4000"/>
                </a:solidFill>
                <a:latin typeface="Arial"/>
              </a:rPr>
              <a:t>confident(jean)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ffffff"/>
                </a:solidFill>
                <a:latin typeface="Arial"/>
              </a:rPr>
              <a:t>/* =========== jean's PLAYING ================== */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ffffff"/>
                </a:solidFill>
                <a:latin typeface="Arial"/>
              </a:rPr>
              <a:t>respects_colours(jean).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ffffff"/>
                </a:solidFill>
                <a:latin typeface="Arial"/>
              </a:rPr>
              <a:t>respects_sum(jean).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ffffff"/>
                </a:solidFill>
                <a:latin typeface="Arial"/>
              </a:rPr>
              <a:t>plays_dichotomic(jean).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ffffff"/>
                </a:solidFill>
                <a:latin typeface="Arial"/>
              </a:rPr>
              <a:t>fast_player(jean).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ffffff"/>
                </a:solidFill>
                <a:latin typeface="Arial"/>
              </a:rPr>
              <a:t>strong_player(jean).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ff4000"/>
                </a:solidFill>
                <a:latin typeface="Arial"/>
              </a:rPr>
              <a:t>struggles_with_higher_numbers(jean).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Flèche : bas 7"/>
          <p:cNvSpPr/>
          <p:nvPr/>
        </p:nvSpPr>
        <p:spPr>
          <a:xfrm rot="4866600">
            <a:off x="5539680" y="-562680"/>
            <a:ext cx="225720" cy="63313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1c1b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Cyntho Nex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316800" y="443520"/>
            <a:ext cx="11481480" cy="63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3600" spc="-1" strike="noStrike">
                <a:solidFill>
                  <a:schemeClr val="lt1"/>
                </a:solidFill>
                <a:latin typeface="Cyntho Next Bold"/>
              </a:rPr>
              <a:t>3) </a:t>
            </a:r>
            <a:r>
              <a:rPr b="0" lang="fr-FR" sz="3200" spc="-1" strike="noStrike">
                <a:solidFill>
                  <a:schemeClr val="lt1"/>
                </a:solidFill>
                <a:latin typeface="Cyntho Next Bold"/>
              </a:rPr>
              <a:t>Ce qui permet de créer de nouvelles connaissances</a:t>
            </a:r>
            <a:endParaRPr b="0" lang="fr-FR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Ellipse 13"/>
          <p:cNvSpPr/>
          <p:nvPr/>
        </p:nvSpPr>
        <p:spPr>
          <a:xfrm>
            <a:off x="1384200" y="2908080"/>
            <a:ext cx="1865520" cy="77184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6360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lt1"/>
                </a:solidFill>
                <a:latin typeface="Cyntho Next"/>
              </a:rPr>
              <a:t>BK joueur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Ellipse 15"/>
          <p:cNvSpPr/>
          <p:nvPr/>
        </p:nvSpPr>
        <p:spPr>
          <a:xfrm>
            <a:off x="6953400" y="2388960"/>
            <a:ext cx="1865520" cy="77184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6360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FR" sz="1600" spc="-1" strike="noStrike">
                <a:solidFill>
                  <a:schemeClr val="lt1"/>
                </a:solidFill>
                <a:latin typeface="Cyntho Next"/>
              </a:rPr>
              <a:t>BK_enonce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fr-FR" sz="1600" spc="-1" strike="noStrike">
                <a:solidFill>
                  <a:schemeClr val="lt1"/>
                </a:solidFill>
                <a:latin typeface="Cyntho Next"/>
              </a:rPr>
              <a:t>(difficulté, stratégie)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Rectangle : coins arrondis 12"/>
          <p:cNvSpPr/>
          <p:nvPr/>
        </p:nvSpPr>
        <p:spPr>
          <a:xfrm>
            <a:off x="5127480" y="4380120"/>
            <a:ext cx="2703600" cy="782280"/>
          </a:xfrm>
          <a:prstGeom prst="roundRect">
            <a:avLst>
              <a:gd name="adj" fmla="val 16667"/>
            </a:avLst>
          </a:prstGeom>
          <a:solidFill>
            <a:schemeClr val="accent4">
              <a:lumMod val="50000"/>
            </a:schemeClr>
          </a:solidFill>
          <a:ln>
            <a:solidFill>
              <a:srgbClr val="100c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lt1"/>
                </a:solidFill>
                <a:latin typeface="Cyntho Next"/>
              </a:rPr>
              <a:t> </a:t>
            </a:r>
            <a:r>
              <a:rPr b="0" lang="fr-FR" sz="1800" spc="-1" strike="noStrike">
                <a:solidFill>
                  <a:schemeClr val="lt1"/>
                </a:solidFill>
                <a:latin typeface="Cyntho Next"/>
              </a:rPr>
              <a:t>Qualifie difficulté énoncé relativement au joueur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2" name="Image 4" descr=""/>
          <p:cNvPicPr/>
          <p:nvPr/>
        </p:nvPicPr>
        <p:blipFill>
          <a:blip r:embed="rId1"/>
          <a:stretch/>
        </p:blipFill>
        <p:spPr>
          <a:xfrm>
            <a:off x="4701600" y="1078920"/>
            <a:ext cx="1297440" cy="905400"/>
          </a:xfrm>
          <a:prstGeom prst="rect">
            <a:avLst/>
          </a:prstGeom>
          <a:ln w="0">
            <a:noFill/>
          </a:ln>
        </p:spPr>
      </p:pic>
      <p:sp>
        <p:nvSpPr>
          <p:cNvPr id="263" name="Flèche : bas 31"/>
          <p:cNvSpPr/>
          <p:nvPr/>
        </p:nvSpPr>
        <p:spPr>
          <a:xfrm rot="3085200">
            <a:off x="3775320" y="1689480"/>
            <a:ext cx="234000" cy="17582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1c1b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264" name="Ellipse 19"/>
          <p:cNvSpPr/>
          <p:nvPr/>
        </p:nvSpPr>
        <p:spPr>
          <a:xfrm>
            <a:off x="4529880" y="2815920"/>
            <a:ext cx="2184120" cy="77184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6360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lt1"/>
                </a:solidFill>
                <a:latin typeface="Cyntho Next"/>
              </a:rPr>
              <a:t>BK 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lt1"/>
                </a:solidFill>
                <a:latin typeface="Cyntho Next"/>
              </a:rPr>
              <a:t>énoncé wrt joueur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Rectangle : coins arrondis 13"/>
          <p:cNvSpPr/>
          <p:nvPr/>
        </p:nvSpPr>
        <p:spPr>
          <a:xfrm>
            <a:off x="1480680" y="4255200"/>
            <a:ext cx="1668600" cy="468720"/>
          </a:xfrm>
          <a:prstGeom prst="roundRect">
            <a:avLst>
              <a:gd name="adj" fmla="val 16667"/>
            </a:avLst>
          </a:prstGeom>
          <a:solidFill>
            <a:schemeClr val="accent4">
              <a:lumMod val="50000"/>
            </a:schemeClr>
          </a:solidFill>
          <a:ln>
            <a:solidFill>
              <a:srgbClr val="100c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lt1"/>
                </a:solidFill>
                <a:latin typeface="Cyntho Next"/>
              </a:rPr>
              <a:t>LLM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Flèche : bas 32"/>
          <p:cNvSpPr/>
          <p:nvPr/>
        </p:nvSpPr>
        <p:spPr>
          <a:xfrm>
            <a:off x="2200320" y="3772800"/>
            <a:ext cx="233280" cy="41148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1c1b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267" name="Ellipse 20"/>
          <p:cNvSpPr/>
          <p:nvPr/>
        </p:nvSpPr>
        <p:spPr>
          <a:xfrm>
            <a:off x="1374480" y="5236920"/>
            <a:ext cx="1865520" cy="77184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6360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lt1"/>
                </a:solidFill>
                <a:latin typeface="Cyntho Next"/>
              </a:rPr>
              <a:t>BK langue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lt1"/>
                </a:solidFill>
                <a:latin typeface="Cyntho Next"/>
              </a:rPr>
              <a:t>naturelle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Flèche : bas 33"/>
          <p:cNvSpPr/>
          <p:nvPr/>
        </p:nvSpPr>
        <p:spPr>
          <a:xfrm>
            <a:off x="5502240" y="3737160"/>
            <a:ext cx="233280" cy="41148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1c1b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269" name="Flèche : bas 35"/>
          <p:cNvSpPr/>
          <p:nvPr/>
        </p:nvSpPr>
        <p:spPr>
          <a:xfrm rot="17890200">
            <a:off x="4106880" y="2998800"/>
            <a:ext cx="284040" cy="19274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1c1b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270" name="Flèche : bas 36"/>
          <p:cNvSpPr/>
          <p:nvPr/>
        </p:nvSpPr>
        <p:spPr>
          <a:xfrm rot="7131000">
            <a:off x="3921840" y="3311640"/>
            <a:ext cx="280800" cy="186156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1c1b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271" name="Flèche : bas 39"/>
          <p:cNvSpPr/>
          <p:nvPr/>
        </p:nvSpPr>
        <p:spPr>
          <a:xfrm rot="2151600">
            <a:off x="7164000" y="3271680"/>
            <a:ext cx="233280" cy="9846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1c1b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272" name="Flèche : bas 40"/>
          <p:cNvSpPr/>
          <p:nvPr/>
        </p:nvSpPr>
        <p:spPr>
          <a:xfrm>
            <a:off x="2190600" y="4773600"/>
            <a:ext cx="233280" cy="41148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1c1b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Cyntho Nex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1080000" y="2880000"/>
            <a:ext cx="10354320" cy="113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b" anchorCtr="1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000" spc="-1" strike="noStrike">
                <a:solidFill>
                  <a:srgbClr val="ffffff"/>
                </a:solidFill>
                <a:latin typeface="Cyntho Next SemiBold"/>
              </a:rPr>
              <a:t>Travail en cours</a:t>
            </a:r>
            <a:endParaRPr b="0" lang="fr-FR" sz="4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316800" y="443520"/>
            <a:ext cx="11481840" cy="33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3600" spc="-1" strike="noStrike">
                <a:solidFill>
                  <a:schemeClr val="lt1"/>
                </a:solidFill>
                <a:latin typeface="Cyntho Next Bold"/>
              </a:rPr>
              <a:t>Enseignement  adaptatif (adaptive learning)</a:t>
            </a:r>
            <a:endParaRPr b="0" lang="fr-FR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PlaceHolder 14"/>
          <p:cNvSpPr/>
          <p:nvPr/>
        </p:nvSpPr>
        <p:spPr>
          <a:xfrm>
            <a:off x="900000" y="2756880"/>
            <a:ext cx="10354320" cy="11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b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2400" spc="-1" strike="noStrike">
                <a:solidFill>
                  <a:srgbClr val="ffffff"/>
                </a:solidFill>
                <a:latin typeface="Cyntho Next SemiBold"/>
              </a:rPr>
              <a:t>Proposer des parties (défis, pédagogie,...)</a:t>
            </a:r>
            <a:br>
              <a:rPr sz="2400"/>
            </a:br>
            <a:r>
              <a:rPr b="0" lang="fr-FR" sz="2400" spc="-1" strike="noStrike">
                <a:solidFill>
                  <a:srgbClr val="ffffff"/>
                </a:solidFill>
                <a:latin typeface="Cyntho Next SemiBold"/>
              </a:rPr>
              <a:t>à un joueur en fonction des ses caractéristiques </a:t>
            </a:r>
            <a:br>
              <a:rPr sz="2400"/>
            </a:br>
            <a:r>
              <a:rPr b="0" lang="fr-FR" sz="2400" spc="-1" strike="noStrike">
                <a:solidFill>
                  <a:srgbClr val="ffffff"/>
                </a:solidFill>
                <a:latin typeface="Cyntho Next SemiBold"/>
              </a:rPr>
              <a:t>(personnalité et façon de raisonner)  </a:t>
            </a:r>
            <a:endParaRPr b="0" lang="fr-FR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1080000" y="2880000"/>
            <a:ext cx="10354320" cy="113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b" anchorCtr="1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rgbClr val="ffffff"/>
                </a:solidFill>
                <a:latin typeface="Arial"/>
              </a:rPr>
              <a:t>Réutiliser l’architecture et la technologie dans d’autres contextes</a:t>
            </a:r>
            <a:endParaRPr b="0" lang="fr-FR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397440" y="443520"/>
            <a:ext cx="11481480" cy="63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3600" spc="-1" strike="noStrike">
                <a:solidFill>
                  <a:schemeClr val="lt1"/>
                </a:solidFill>
                <a:latin typeface="Cyntho Next Bold"/>
              </a:rPr>
              <a:t>L’architecture et la technologie sont transférables</a:t>
            </a:r>
            <a:endParaRPr b="0" lang="fr-FR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Ellipse 7"/>
          <p:cNvSpPr/>
          <p:nvPr/>
        </p:nvSpPr>
        <p:spPr>
          <a:xfrm>
            <a:off x="900000" y="1078920"/>
            <a:ext cx="1865520" cy="77184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6360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lt1"/>
                </a:solidFill>
                <a:latin typeface="Cyntho Next"/>
              </a:rPr>
              <a:t>BK joueurs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Ellipse 11"/>
          <p:cNvSpPr/>
          <p:nvPr/>
        </p:nvSpPr>
        <p:spPr>
          <a:xfrm>
            <a:off x="2880000" y="1078920"/>
            <a:ext cx="1464120" cy="77184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6360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lt1"/>
                </a:solidFill>
                <a:latin typeface="Cyntho Next"/>
              </a:rPr>
              <a:t>BK parties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Rectangle : coins arrondis 8"/>
          <p:cNvSpPr/>
          <p:nvPr/>
        </p:nvSpPr>
        <p:spPr>
          <a:xfrm>
            <a:off x="1080000" y="2931840"/>
            <a:ext cx="3778920" cy="468720"/>
          </a:xfrm>
          <a:prstGeom prst="roundRect">
            <a:avLst>
              <a:gd name="adj" fmla="val 16667"/>
            </a:avLst>
          </a:prstGeom>
          <a:solidFill>
            <a:schemeClr val="accent4">
              <a:lumMod val="50000"/>
            </a:schemeClr>
          </a:solidFill>
          <a:ln>
            <a:solidFill>
              <a:srgbClr val="100c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lt1"/>
                </a:solidFill>
                <a:latin typeface="Cyntho Next"/>
              </a:rPr>
              <a:t>Agents + humain + LLM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Flèche : bas 18"/>
          <p:cNvSpPr/>
          <p:nvPr/>
        </p:nvSpPr>
        <p:spPr>
          <a:xfrm>
            <a:off x="1745640" y="1926720"/>
            <a:ext cx="233280" cy="10040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1c1b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282" name="Ellipse 14"/>
          <p:cNvSpPr/>
          <p:nvPr/>
        </p:nvSpPr>
        <p:spPr>
          <a:xfrm>
            <a:off x="1620000" y="4191840"/>
            <a:ext cx="2338920" cy="95184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6360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lt1"/>
                </a:solidFill>
                <a:latin typeface="Cyntho Next"/>
              </a:rPr>
              <a:t>BK joueurs relativement aux parties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Flèche : bas 19"/>
          <p:cNvSpPr/>
          <p:nvPr/>
        </p:nvSpPr>
        <p:spPr>
          <a:xfrm>
            <a:off x="3545640" y="1851840"/>
            <a:ext cx="233280" cy="10789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1c1b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284" name="Flèche : bas 1"/>
          <p:cNvSpPr/>
          <p:nvPr/>
        </p:nvSpPr>
        <p:spPr>
          <a:xfrm>
            <a:off x="2700000" y="3401640"/>
            <a:ext cx="233280" cy="7189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1c1b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285" name="Ellipse 1"/>
          <p:cNvSpPr/>
          <p:nvPr/>
        </p:nvSpPr>
        <p:spPr>
          <a:xfrm>
            <a:off x="1620000" y="4192200"/>
            <a:ext cx="2338920" cy="95184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6360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lt1"/>
                </a:solidFill>
                <a:latin typeface="Cyntho Next"/>
              </a:rPr>
              <a:t>BK joueurs relativement aux parties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"/>
          <p:cNvSpPr/>
          <p:nvPr/>
        </p:nvSpPr>
        <p:spPr>
          <a:xfrm>
            <a:off x="1440000" y="5400000"/>
            <a:ext cx="2878920" cy="10789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Quelle type de partie pose le plus de difficulté à tel joueur ?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Ellipse 2"/>
          <p:cNvSpPr/>
          <p:nvPr/>
        </p:nvSpPr>
        <p:spPr>
          <a:xfrm>
            <a:off x="7020000" y="1078920"/>
            <a:ext cx="1865520" cy="77184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6360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lt1"/>
                </a:solidFill>
                <a:latin typeface="Cyntho Next"/>
              </a:rPr>
              <a:t>BK 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lt1"/>
                </a:solidFill>
                <a:latin typeface="Cyntho Next"/>
              </a:rPr>
              <a:t>clients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Ellipse 3"/>
          <p:cNvSpPr/>
          <p:nvPr/>
        </p:nvSpPr>
        <p:spPr>
          <a:xfrm>
            <a:off x="9000000" y="1027080"/>
            <a:ext cx="1618920" cy="77184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6360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lt1"/>
                </a:solidFill>
                <a:latin typeface="Cyntho Next"/>
              </a:rPr>
              <a:t>BK 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lt1"/>
                </a:solidFill>
                <a:latin typeface="Cyntho Next"/>
              </a:rPr>
              <a:t>produits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Rectangle : coins arrondis 1"/>
          <p:cNvSpPr/>
          <p:nvPr/>
        </p:nvSpPr>
        <p:spPr>
          <a:xfrm>
            <a:off x="7200000" y="2931840"/>
            <a:ext cx="3778920" cy="468720"/>
          </a:xfrm>
          <a:prstGeom prst="roundRect">
            <a:avLst>
              <a:gd name="adj" fmla="val 16667"/>
            </a:avLst>
          </a:prstGeom>
          <a:solidFill>
            <a:schemeClr val="accent4">
              <a:lumMod val="50000"/>
            </a:schemeClr>
          </a:solidFill>
          <a:ln>
            <a:solidFill>
              <a:srgbClr val="100c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lt1"/>
                </a:solidFill>
                <a:latin typeface="Cyntho Next"/>
              </a:rPr>
              <a:t>Agents + humain + LLM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Flèche : bas 2"/>
          <p:cNvSpPr/>
          <p:nvPr/>
        </p:nvSpPr>
        <p:spPr>
          <a:xfrm>
            <a:off x="7865640" y="1926720"/>
            <a:ext cx="233280" cy="10040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1c1b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291" name="Ellipse 4"/>
          <p:cNvSpPr/>
          <p:nvPr/>
        </p:nvSpPr>
        <p:spPr>
          <a:xfrm>
            <a:off x="7740000" y="4191840"/>
            <a:ext cx="2338920" cy="95184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6360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lt1"/>
                </a:solidFill>
                <a:latin typeface="Cyntho Next"/>
              </a:rPr>
              <a:t>BK joueurs relativement aux parties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Flèche : bas 3"/>
          <p:cNvSpPr/>
          <p:nvPr/>
        </p:nvSpPr>
        <p:spPr>
          <a:xfrm>
            <a:off x="9665640" y="1851840"/>
            <a:ext cx="233280" cy="10789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1c1b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293" name="Flèche : bas 4"/>
          <p:cNvSpPr/>
          <p:nvPr/>
        </p:nvSpPr>
        <p:spPr>
          <a:xfrm>
            <a:off x="8820000" y="3401640"/>
            <a:ext cx="233280" cy="7189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1c1b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Cyntho Next"/>
            </a:endParaRPr>
          </a:p>
        </p:txBody>
      </p:sp>
      <p:sp>
        <p:nvSpPr>
          <p:cNvPr id="294" name="Ellipse 10"/>
          <p:cNvSpPr/>
          <p:nvPr/>
        </p:nvSpPr>
        <p:spPr>
          <a:xfrm>
            <a:off x="7740000" y="4192200"/>
            <a:ext cx="2338920" cy="95184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6360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lt1"/>
                </a:solidFill>
                <a:latin typeface="Cyntho Next"/>
              </a:rPr>
              <a:t>BK clients relativement aux produits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7560000" y="5400000"/>
            <a:ext cx="2878920" cy="10789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Tel client va préférer quels types de produit ?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1080000" y="3420000"/>
            <a:ext cx="10354320" cy="113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b" anchorCtr="1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br>
              <a:rPr sz="4000"/>
            </a:br>
            <a:r>
              <a:rPr b="0" lang="fr-FR" sz="4000" spc="-1" strike="noStrike">
                <a:solidFill>
                  <a:srgbClr val="ffffff"/>
                </a:solidFill>
                <a:latin typeface="Cyntho Next SemiBold"/>
              </a:rPr>
              <a:t>Merci !</a:t>
            </a:r>
            <a:br>
              <a:rPr sz="4000"/>
            </a:br>
            <a:br>
              <a:rPr sz="4000"/>
            </a:br>
            <a:r>
              <a:rPr b="0" lang="fr-FR" sz="4000" spc="-1" strike="noStrike">
                <a:solidFill>
                  <a:srgbClr val="ffffff"/>
                </a:solidFill>
                <a:latin typeface="Cyntho Next SemiBold"/>
              </a:rPr>
              <a:t>Des questions ?</a:t>
            </a:r>
            <a:endParaRPr b="0" lang="fr-FR" sz="4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Thème1">
  <a:themeElements>
    <a:clrScheme name="NukkA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23ef2"/>
      </a:accent1>
      <a:accent2>
        <a:srgbClr val="587dff"/>
      </a:accent2>
      <a:accent3>
        <a:srgbClr val="120ed5"/>
      </a:accent3>
      <a:accent4>
        <a:srgbClr val="8d8bf7"/>
      </a:accent4>
      <a:accent5>
        <a:srgbClr val="423ef2"/>
      </a:accent5>
      <a:accent6>
        <a:srgbClr val="d9d8fc"/>
      </a:accent6>
      <a:hlink>
        <a:srgbClr val="0563c1"/>
      </a:hlink>
      <a:folHlink>
        <a:srgbClr val="954f72"/>
      </a:folHlink>
    </a:clrScheme>
    <a:fontScheme name="NukkAI">
      <a:majorFont>
        <a:latin typeface="Cyntho Next Bold" pitchFamily="0" charset="1"/>
        <a:ea typeface=""/>
        <a:cs typeface=""/>
      </a:majorFont>
      <a:minorFont>
        <a:latin typeface="Cyntho Nex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340</TotalTime>
  <Application>LibreOffice/24.2.7.2$Linux_X86_64 LibreOffice_project/420$Build-2</Application>
  <AppVersion>15.0000</AppVersion>
  <Words>115</Words>
  <Paragraphs>32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2026-03-31T13:57:06Z</dcterms:created>
  <dc:creator>Ella DIJKSMAN</dc:creator>
  <dc:description/>
  <dc:language>fr-FR</dc:language>
  <cp:lastModifiedBy/>
  <dcterms:modified xsi:type="dcterms:W3CDTF">2026-04-03T14:37:45Z</dcterms:modified>
  <cp:revision>58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Grand écran</vt:lpwstr>
  </property>
  <property fmtid="{D5CDD505-2E9C-101B-9397-08002B2CF9AE}" pid="3" name="Slides">
    <vt:i4>7</vt:i4>
  </property>
</Properties>
</file>